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256032"/>
            <a:ext cx="3108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737373"/>
                </a:solidFill>
                <a:latin typeface="TsangerJinKai02"/>
                <a:ea typeface="TsangerJinKai02"/>
                <a:cs typeface="TsangerJinKai02"/>
              </a:rPr>
              <a:t>VOL. 01 | FRONT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60" y="1828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0">
                <a:solidFill>
                  <a:srgbClr val="111111"/>
                </a:solidFill>
                <a:latin typeface="TsangerJinKai02"/>
                <a:ea typeface="TsangerJinKai02"/>
                <a:cs typeface="TsangerJinKai02"/>
              </a:rPr>
              <a:t>THE NEWSPRINT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256032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737373"/>
                </a:solidFill>
                <a:latin typeface="TsangerJinKai02"/>
                <a:ea typeface="TsangerJinKai02"/>
                <a:cs typeface="TsangerJinKai02"/>
              </a:rPr>
              <a:t>PAGE 01 / 08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" y="658368"/>
            <a:ext cx="11368735" cy="0"/>
          </a:xfrm>
          <a:prstGeom prst="line">
            <a:avLst/>
          </a:prstGeom>
          <a:ln w="508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" y="6199632"/>
            <a:ext cx="11368735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11480" y="868680"/>
            <a:ext cx="960120" cy="256032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937260"/>
            <a:ext cx="8138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F9F9F7"/>
                </a:solidFill>
                <a:latin typeface="TsangerJinKai02"/>
                <a:ea typeface="TsangerJinKai02"/>
                <a:cs typeface="TsangerJinKai02"/>
              </a:rPr>
              <a:t>BREAKING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298448"/>
            <a:ext cx="7452360" cy="2148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5500" b="0">
                <a:solidFill>
                  <a:srgbClr val="111111"/>
                </a:solidFill>
                <a:latin typeface="TsangerJinKai02"/>
                <a:ea typeface="TsangerJinKai02"/>
                <a:cs typeface="TsangerJinKai02"/>
              </a:rPr>
              <a:t>把 AI 文档
排成出版物版面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92440" y="822960"/>
            <a:ext cx="0" cy="5230368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366760" y="1078992"/>
            <a:ext cx="30632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500" b="0">
                <a:solidFill>
                  <a:srgbClr val="404040"/>
                </a:solidFill>
                <a:latin typeface="TsangerJinKai02"/>
                <a:ea typeface="TsangerJinKai02"/>
                <a:cs typeface="TsangerJinKai02"/>
              </a:rPr>
              <a:t>Newsprint 不应该是旧主题换色，而是一整套报纸式信息组织：头版标题、导语、分栏、边栏事实盒、反黑版块和少量红色编辑标记。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66760" y="2743200"/>
            <a:ext cx="3063240" cy="1298448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58784" y="2962656"/>
            <a:ext cx="25603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>
                <a:solidFill>
                  <a:srgbClr val="F9F9F7"/>
                </a:solidFill>
                <a:latin typeface="TsangerJinKai02"/>
                <a:ea typeface="TsangerJinKai02"/>
                <a:cs typeface="TsangerJinKai02"/>
              </a:rPr>
              <a:t>EDITION
VOL. 1.0
KAMI NEWSROOM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1480" y="3886200"/>
            <a:ext cx="740664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11480" y="4133087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737373"/>
                </a:solidFill>
                <a:latin typeface="TsangerJinKai02"/>
                <a:ea typeface="TsangerJinKai02"/>
                <a:cs typeface="TsangerJinKai02"/>
              </a:rPr>
              <a:t>新闻纸底 / 12 栏栅格 / 高对比字体 / COLLAPSED BORDERS / NO ROUNDED CORNERS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256032"/>
            <a:ext cx="3108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737373"/>
                </a:solidFill>
                <a:latin typeface="TsangerJinKai02"/>
                <a:ea typeface="TsangerJinKai02"/>
                <a:cs typeface="TsangerJinKai02"/>
              </a:rPr>
              <a:t>VOL. 01 | LAYOUT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60" y="1828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0">
                <a:solidFill>
                  <a:srgbClr val="111111"/>
                </a:solidFill>
                <a:latin typeface="TsangerJinKai02"/>
                <a:ea typeface="TsangerJinKai02"/>
                <a:cs typeface="TsangerJinKai02"/>
              </a:rPr>
              <a:t>THE NEWSPRINT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256032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737373"/>
                </a:solidFill>
                <a:latin typeface="TsangerJinKai02"/>
                <a:ea typeface="TsangerJinKai02"/>
                <a:cs typeface="TsangerJinKai02"/>
              </a:rPr>
              <a:t>PAGE 02 / 08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" y="658368"/>
            <a:ext cx="11368735" cy="0"/>
          </a:xfrm>
          <a:prstGeom prst="line">
            <a:avLst/>
          </a:prstGeom>
          <a:ln w="508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" y="6199632"/>
            <a:ext cx="11368735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987552"/>
            <a:ext cx="4937760" cy="713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111111"/>
                </a:solidFill>
                <a:latin typeface="TsangerJinKai02"/>
                <a:ea typeface="TsangerJinKai02"/>
                <a:cs typeface="TsangerJinKai02"/>
              </a:rPr>
              <a:t>12 栏，不是方框套方框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078992"/>
            <a:ext cx="5440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04040"/>
                </a:solidFill>
                <a:latin typeface="TsangerJinKai02"/>
                <a:ea typeface="TsangerJinKai02"/>
                <a:cs typeface="TsangerJinKai02"/>
              </a:rPr>
              <a:t>Prompt 要求的 visible structure 来自分栏和共享边线。页面不再有厚重外框，也不再用牌匾包标题。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1938528"/>
            <a:ext cx="947394" cy="2468880"/>
          </a:xfrm>
          <a:prstGeom prst="rect">
            <a:avLst/>
          </a:prstGeom>
          <a:solidFill>
            <a:srgbClr val="E5E5E0"/>
          </a:solidFill>
          <a:ln w="1016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87368"/>
            <a:ext cx="85595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737373"/>
                </a:solidFill>
                <a:latin typeface="TsangerJinKai02"/>
                <a:ea typeface="TsangerJinKai02"/>
                <a:cs typeface="TsangerJinKai02"/>
              </a:rPr>
              <a:t>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58874" y="1938528"/>
            <a:ext cx="947394" cy="2468880"/>
          </a:xfrm>
          <a:prstGeom prst="rect">
            <a:avLst/>
          </a:prstGeom>
          <a:solidFill>
            <a:srgbClr val="E5E5E0"/>
          </a:solidFill>
          <a:ln w="1016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04594" y="4087368"/>
            <a:ext cx="85595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737373"/>
                </a:solidFill>
                <a:latin typeface="TsangerJinKai02"/>
                <a:ea typeface="TsangerJinKai02"/>
                <a:cs typeface="TsangerJinKai02"/>
              </a:rPr>
              <a:t>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06269" y="1938528"/>
            <a:ext cx="947394" cy="2468880"/>
          </a:xfrm>
          <a:prstGeom prst="rect">
            <a:avLst/>
          </a:prstGeom>
          <a:solidFill>
            <a:srgbClr val="E5E5E0"/>
          </a:solidFill>
          <a:ln w="1016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51989" y="4087368"/>
            <a:ext cx="85595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737373"/>
                </a:solidFill>
                <a:latin typeface="TsangerJinKai02"/>
                <a:ea typeface="TsangerJinKai02"/>
                <a:cs typeface="TsangerJinKai02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53663" y="1938528"/>
            <a:ext cx="947394" cy="2468880"/>
          </a:xfrm>
          <a:prstGeom prst="rect">
            <a:avLst/>
          </a:prstGeom>
          <a:solidFill>
            <a:srgbClr val="F9F9F7"/>
          </a:solidFill>
          <a:ln w="1016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9383" y="4087368"/>
            <a:ext cx="85595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737373"/>
                </a:solidFill>
                <a:latin typeface="TsangerJinKai02"/>
                <a:ea typeface="TsangerJinKai02"/>
                <a:cs typeface="TsangerJinKai02"/>
              </a:rPr>
              <a:t>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1058" y="1938528"/>
            <a:ext cx="947394" cy="2468880"/>
          </a:xfrm>
          <a:prstGeom prst="rect">
            <a:avLst/>
          </a:prstGeom>
          <a:solidFill>
            <a:srgbClr val="F9F9F7"/>
          </a:solidFill>
          <a:ln w="1016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46778" y="4087368"/>
            <a:ext cx="85595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737373"/>
                </a:solidFill>
                <a:latin typeface="TsangerJinKai02"/>
                <a:ea typeface="TsangerJinKai02"/>
                <a:cs typeface="TsangerJinKai02"/>
              </a:rPr>
              <a:t>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48452" y="1938528"/>
            <a:ext cx="947394" cy="2468880"/>
          </a:xfrm>
          <a:prstGeom prst="rect">
            <a:avLst/>
          </a:prstGeom>
          <a:solidFill>
            <a:srgbClr val="F9F9F7"/>
          </a:solidFill>
          <a:ln w="1016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94172" y="4087368"/>
            <a:ext cx="85595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737373"/>
                </a:solidFill>
                <a:latin typeface="TsangerJinKai02"/>
                <a:ea typeface="TsangerJinKai02"/>
                <a:cs typeface="TsangerJinKai02"/>
              </a:rPr>
              <a:t>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95847" y="1938528"/>
            <a:ext cx="947394" cy="2468880"/>
          </a:xfrm>
          <a:prstGeom prst="rect">
            <a:avLst/>
          </a:prstGeom>
          <a:solidFill>
            <a:srgbClr val="F9F9F7"/>
          </a:solidFill>
          <a:ln w="1016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41567" y="4087368"/>
            <a:ext cx="85595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737373"/>
                </a:solidFill>
                <a:latin typeface="TsangerJinKai02"/>
                <a:ea typeface="TsangerJinKai02"/>
                <a:cs typeface="TsangerJinKai02"/>
              </a:rPr>
              <a:t>7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043242" y="1938528"/>
            <a:ext cx="947394" cy="2468880"/>
          </a:xfrm>
          <a:prstGeom prst="rect">
            <a:avLst/>
          </a:prstGeom>
          <a:solidFill>
            <a:srgbClr val="F9F9F7"/>
          </a:solidFill>
          <a:ln w="1016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88962" y="4087368"/>
            <a:ext cx="85595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737373"/>
                </a:solidFill>
                <a:latin typeface="TsangerJinKai02"/>
                <a:ea typeface="TsangerJinKai02"/>
                <a:cs typeface="TsangerJinKai02"/>
              </a:rPr>
              <a:t>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90636" y="1938528"/>
            <a:ext cx="947394" cy="2468880"/>
          </a:xfrm>
          <a:prstGeom prst="rect">
            <a:avLst/>
          </a:prstGeom>
          <a:solidFill>
            <a:srgbClr val="E5E5E0"/>
          </a:solidFill>
          <a:ln w="1016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36356" y="4087368"/>
            <a:ext cx="85595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737373"/>
                </a:solidFill>
                <a:latin typeface="TsangerJinKai02"/>
                <a:ea typeface="TsangerJinKai02"/>
                <a:cs typeface="TsangerJinKai02"/>
              </a:rPr>
              <a:t>9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38031" y="1938528"/>
            <a:ext cx="947394" cy="2468880"/>
          </a:xfrm>
          <a:prstGeom prst="rect">
            <a:avLst/>
          </a:prstGeom>
          <a:solidFill>
            <a:srgbClr val="E5E5E0"/>
          </a:solidFill>
          <a:ln w="1016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83751" y="4087368"/>
            <a:ext cx="85595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737373"/>
                </a:solidFill>
                <a:latin typeface="TsangerJinKai02"/>
                <a:ea typeface="TsangerJinKai02"/>
                <a:cs typeface="TsangerJinKai02"/>
              </a:rPr>
              <a:t>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85425" y="1938528"/>
            <a:ext cx="947394" cy="2468880"/>
          </a:xfrm>
          <a:prstGeom prst="rect">
            <a:avLst/>
          </a:prstGeom>
          <a:solidFill>
            <a:srgbClr val="E5E5E0"/>
          </a:solidFill>
          <a:ln w="1016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31145" y="4087368"/>
            <a:ext cx="85595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737373"/>
                </a:solidFill>
                <a:latin typeface="TsangerJinKai02"/>
                <a:ea typeface="TsangerJinKai02"/>
                <a:cs typeface="TsangerJinKai02"/>
              </a:rPr>
              <a:t>11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832820" y="1938528"/>
            <a:ext cx="947394" cy="2468880"/>
          </a:xfrm>
          <a:prstGeom prst="rect">
            <a:avLst/>
          </a:prstGeom>
          <a:solidFill>
            <a:srgbClr val="E5E5E0"/>
          </a:solidFill>
          <a:ln w="10160">
            <a:solidFill>
              <a:srgbClr val="1111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878540" y="4087368"/>
            <a:ext cx="85595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0">
                <a:solidFill>
                  <a:srgbClr val="737373"/>
                </a:solidFill>
                <a:latin typeface="TsangerJinKai02"/>
                <a:ea typeface="TsangerJinKai02"/>
                <a:cs typeface="TsangerJinKai02"/>
              </a:rPr>
              <a:t>12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48640" y="2103120"/>
            <a:ext cx="1234440" cy="256032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1792" y="2171700"/>
            <a:ext cx="108813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F9F9F7"/>
                </a:solidFill>
                <a:latin typeface="TsangerJinKai02"/>
                <a:ea typeface="TsangerJinKai02"/>
                <a:cs typeface="TsangerJinKai02"/>
              </a:rPr>
              <a:t>HERO 8 COL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27796" y="2103120"/>
            <a:ext cx="1234440" cy="256032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00948" y="2171700"/>
            <a:ext cx="108813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F9F9F7"/>
                </a:solidFill>
                <a:latin typeface="TsangerJinKai02"/>
                <a:ea typeface="TsangerJinKai02"/>
                <a:cs typeface="TsangerJinKai02"/>
              </a:rPr>
              <a:t>SIDE 4 COL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4773168"/>
            <a:ext cx="7589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404040"/>
                </a:solidFill>
                <a:latin typeface="TsangerJinKai02"/>
                <a:ea typeface="TsangerJinKai02"/>
                <a:cs typeface="TsangerJinKai02"/>
              </a:rPr>
              <a:t>Collapsed grid borders: container has left/top, cells add right/bottom.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256032"/>
            <a:ext cx="3108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737373"/>
                </a:solidFill>
                <a:latin typeface="TsangerJinKai02"/>
                <a:ea typeface="TsangerJinKai02"/>
                <a:cs typeface="TsangerJinKai02"/>
              </a:rPr>
              <a:t>VOL. 01 | COMPONENT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60" y="1828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0">
                <a:solidFill>
                  <a:srgbClr val="111111"/>
                </a:solidFill>
                <a:latin typeface="TsangerJinKai02"/>
                <a:ea typeface="TsangerJinKai02"/>
                <a:cs typeface="TsangerJinKai02"/>
              </a:rPr>
              <a:t>THE NEWSPRINT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256032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737373"/>
                </a:solidFill>
                <a:latin typeface="TsangerJinKai02"/>
                <a:ea typeface="TsangerJinKai02"/>
                <a:cs typeface="TsangerJinKai02"/>
              </a:rPr>
              <a:t>PAGE 03 / 08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" y="658368"/>
            <a:ext cx="11368735" cy="0"/>
          </a:xfrm>
          <a:prstGeom prst="line">
            <a:avLst/>
          </a:prstGeom>
          <a:ln w="508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" y="6199632"/>
            <a:ext cx="11368735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960120"/>
            <a:ext cx="795527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300" b="0">
                <a:solidFill>
                  <a:srgbClr val="111111"/>
                </a:solidFill>
                <a:latin typeface="TsangerJinKai02"/>
                <a:ea typeface="TsangerJinKai02"/>
                <a:cs typeface="TsangerJinKai02"/>
              </a:rPr>
              <a:t>组件像报纸栏目，不像档案卡片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1480" y="1874519"/>
            <a:ext cx="333756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11480" y="1874519"/>
            <a:ext cx="0" cy="160020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749040" y="1874519"/>
            <a:ext cx="0" cy="160020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" y="3474719"/>
            <a:ext cx="333756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57784" y="2020823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CC0000"/>
                </a:solidFill>
                <a:latin typeface="TsangerJinKai02"/>
                <a:ea typeface="TsangerJinKai02"/>
                <a:cs typeface="TsangerJinKai02"/>
              </a:rPr>
              <a:t>UNIT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" y="2285999"/>
            <a:ext cx="30449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11111"/>
                </a:solidFill>
                <a:latin typeface="TsangerJinKai02"/>
                <a:ea typeface="TsangerJinKai02"/>
                <a:cs typeface="TsangerJinKai02"/>
              </a:rPr>
              <a:t>Masthead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" y="2743199"/>
            <a:ext cx="304495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404040"/>
                </a:solidFill>
                <a:latin typeface="TsangerJinKai02"/>
                <a:ea typeface="TsangerJinKai02"/>
                <a:cs typeface="TsangerJinKai02"/>
              </a:rPr>
              <a:t>大标题和版面信息同屏出现，建立出版物身份。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49040" y="1874519"/>
            <a:ext cx="333756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749040" y="1874519"/>
            <a:ext cx="0" cy="160020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086600" y="1874519"/>
            <a:ext cx="0" cy="160020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3749040" y="3474719"/>
            <a:ext cx="333756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895344" y="2020823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CC0000"/>
                </a:solidFill>
                <a:latin typeface="TsangerJinKai02"/>
                <a:ea typeface="TsangerJinKai02"/>
                <a:cs typeface="TsangerJinKai02"/>
              </a:rPr>
              <a:t>UNIT 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95344" y="2285999"/>
            <a:ext cx="30449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11111"/>
                </a:solidFill>
                <a:latin typeface="TsangerJinKai02"/>
                <a:ea typeface="TsangerJinKai02"/>
                <a:cs typeface="TsangerJinKai02"/>
              </a:rPr>
              <a:t>Lede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95344" y="2743199"/>
            <a:ext cx="304495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404040"/>
                </a:solidFill>
                <a:latin typeface="TsangerJinKai02"/>
                <a:ea typeface="TsangerJinKai02"/>
                <a:cs typeface="TsangerJinKai02"/>
              </a:rPr>
              <a:t>第一段直接给结论，支持 drop cap 和 justify 正文。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86600" y="1874519"/>
            <a:ext cx="333756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086600" y="1874519"/>
            <a:ext cx="0" cy="160020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424160" y="1874519"/>
            <a:ext cx="0" cy="160020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086600" y="3474719"/>
            <a:ext cx="3337560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232904" y="2020823"/>
            <a:ext cx="3044952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CC0000"/>
                </a:solidFill>
                <a:latin typeface="TsangerJinKai02"/>
                <a:ea typeface="TsangerJinKai02"/>
                <a:cs typeface="TsangerJinKai02"/>
              </a:rPr>
              <a:t>UNIT 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2904" y="2285999"/>
            <a:ext cx="304495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111111"/>
                </a:solidFill>
                <a:latin typeface="TsangerJinKai02"/>
                <a:ea typeface="TsangerJinKai02"/>
                <a:cs typeface="TsangerJinKai02"/>
              </a:rPr>
              <a:t>Sidebar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2743199"/>
            <a:ext cx="3044952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50" b="0">
                <a:solidFill>
                  <a:srgbClr val="404040"/>
                </a:solidFill>
                <a:latin typeface="TsangerJinKai02"/>
                <a:ea typeface="TsangerJinKai02"/>
                <a:cs typeface="TsangerJinKai02"/>
              </a:rPr>
              <a:t>反黑事实盒承担强调，不靠一堆厚边框。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" y="4069080"/>
            <a:ext cx="11368735" cy="420624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76072" y="4187952"/>
            <a:ext cx="11039551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F9F9F7"/>
                </a:solidFill>
                <a:latin typeface="TsangerJinKai02"/>
                <a:ea typeface="TsangerJinKai02"/>
                <a:cs typeface="TsangerJinKai02"/>
              </a:rPr>
              <a:t>TICKER | KEY FIGURE 47% | EDITORIAL RED ONLY WHEN IT MATTERS | NO SOFT SHADOWS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256032"/>
            <a:ext cx="3108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737373"/>
                </a:solidFill>
                <a:latin typeface="TsangerJinKai02"/>
                <a:ea typeface="TsangerJinKai02"/>
                <a:cs typeface="TsangerJinKai02"/>
              </a:rPr>
              <a:t>VOL. 01 | TYPOGRAPHIC DRAMA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60" y="1828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0">
                <a:solidFill>
                  <a:srgbClr val="111111"/>
                </a:solidFill>
                <a:latin typeface="TsangerJinKai02"/>
                <a:ea typeface="TsangerJinKai02"/>
                <a:cs typeface="TsangerJinKai02"/>
              </a:rPr>
              <a:t>THE NEWSPRINT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256032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737373"/>
                </a:solidFill>
                <a:latin typeface="TsangerJinKai02"/>
                <a:ea typeface="TsangerJinKai02"/>
                <a:cs typeface="TsangerJinKai02"/>
              </a:rPr>
              <a:t>PAGE 04 / 08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" y="658368"/>
            <a:ext cx="11368735" cy="0"/>
          </a:xfrm>
          <a:prstGeom prst="line">
            <a:avLst/>
          </a:prstGeom>
          <a:ln w="508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" y="6199632"/>
            <a:ext cx="11368735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11480" y="932688"/>
            <a:ext cx="914400" cy="256032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001268"/>
            <a:ext cx="76809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F9F9F7"/>
                </a:solidFill>
                <a:latin typeface="TsangerJinKai02"/>
                <a:ea typeface="TsangerJinKai02"/>
                <a:cs typeface="TsangerJinKai02"/>
              </a:rPr>
              <a:t>DISPLAY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298448"/>
            <a:ext cx="571500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4700" b="0">
                <a:solidFill>
                  <a:srgbClr val="111111"/>
                </a:solidFill>
                <a:latin typeface="TsangerJinKai02"/>
                <a:ea typeface="TsangerJinKai02"/>
                <a:cs typeface="TsangerJinKai02"/>
              </a:rPr>
              <a:t>Massive serif
headlines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446520" y="914400"/>
            <a:ext cx="0" cy="498348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748272" y="1298448"/>
            <a:ext cx="448056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>
                <a:solidFill>
                  <a:srgbClr val="404040"/>
                </a:solidFill>
                <a:latin typeface="TsangerJinKai02"/>
                <a:ea typeface="TsangerJinKai02"/>
                <a:cs typeface="TsangerJinKai02"/>
              </a:rPr>
              <a:t>正文不是装进框里的说明文字，而是报纸式 column copy。需要时使用首字下沉、紧凑行距、明确的 metadata 和极少量红色。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48272" y="2880360"/>
            <a:ext cx="594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0">
                <a:solidFill>
                  <a:srgbClr val="CC0000"/>
                </a:solidFill>
                <a:latin typeface="TsangerJinKai02"/>
                <a:ea typeface="TsangerJinKai02"/>
                <a:cs typeface="TsangerJinKai02"/>
              </a:rPr>
              <a:t>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090672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404040"/>
                </a:solidFill>
                <a:latin typeface="TsangerJinKai02"/>
                <a:ea typeface="TsangerJinKai02"/>
                <a:cs typeface="TsangerJinKai02"/>
              </a:rPr>
              <a:t> drop cap creates editorial rhythm without adding decorative frames.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256032"/>
            <a:ext cx="3108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737373"/>
                </a:solidFill>
                <a:latin typeface="TsangerJinKai02"/>
                <a:ea typeface="TsangerJinKai02"/>
                <a:cs typeface="TsangerJinKai02"/>
              </a:rPr>
              <a:t>VOL. 01 | INVERTED SECTION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60" y="1828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0">
                <a:solidFill>
                  <a:srgbClr val="111111"/>
                </a:solidFill>
                <a:latin typeface="TsangerJinKai02"/>
                <a:ea typeface="TsangerJinKai02"/>
                <a:cs typeface="TsangerJinKai02"/>
              </a:rPr>
              <a:t>THE NEWSPRINT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256032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737373"/>
                </a:solidFill>
                <a:latin typeface="TsangerJinKai02"/>
                <a:ea typeface="TsangerJinKai02"/>
                <a:cs typeface="TsangerJinKai02"/>
              </a:rPr>
              <a:t>PAGE 05 / 08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" y="658368"/>
            <a:ext cx="11368735" cy="0"/>
          </a:xfrm>
          <a:prstGeom prst="line">
            <a:avLst/>
          </a:prstGeom>
          <a:ln w="508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" y="6199632"/>
            <a:ext cx="11368735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11480" y="960120"/>
            <a:ext cx="4754880" cy="489204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234440"/>
            <a:ext cx="1417320" cy="256032"/>
          </a:xfrm>
          <a:prstGeom prst="rect">
            <a:avLst/>
          </a:prstGeom>
          <a:solidFill>
            <a:srgbClr val="C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" y="1303020"/>
            <a:ext cx="1271016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50" b="0">
                <a:solidFill>
                  <a:srgbClr val="F9F9F7"/>
                </a:solidFill>
                <a:latin typeface="TsangerJinKai02"/>
                <a:ea typeface="TsangerJinKai02"/>
                <a:cs typeface="TsangerJinKai02"/>
              </a:rPr>
              <a:t>HOW IT 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783080"/>
            <a:ext cx="40233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sz="3300" b="0">
                <a:solidFill>
                  <a:srgbClr val="F9F9F7"/>
                </a:solidFill>
                <a:latin typeface="TsangerJinKai02"/>
                <a:ea typeface="TsangerJinKai02"/>
                <a:cs typeface="TsangerJinKai02"/>
              </a:rPr>
              <a:t>反黑版块
替代厚重外框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94760"/>
            <a:ext cx="3977639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>
                <a:solidFill>
                  <a:srgbClr val="F9F9F7"/>
                </a:solidFill>
                <a:latin typeface="TsangerJinKai02"/>
                <a:ea typeface="TsangerJinKai02"/>
                <a:cs typeface="TsangerJinKai02"/>
              </a:rPr>
              <a:t>Prompt 明确要求至少一个 inverted section。它是新闻纸风格的重音，而不是旧主题的深色框架。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77840" y="141732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CC0000"/>
                </a:solidFill>
                <a:latin typeface="TsangerJinKai02"/>
                <a:ea typeface="TsangerJinKai02"/>
                <a:cs typeface="TsangerJinKai02"/>
              </a:rPr>
              <a:t>01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577840" y="1938528"/>
            <a:ext cx="1536192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577840" y="2176272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11111"/>
                </a:solidFill>
                <a:latin typeface="TsangerJinKai02"/>
                <a:ea typeface="TsangerJinKai02"/>
                <a:cs typeface="TsangerJinKai02"/>
              </a:rPr>
              <a:t>Route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265176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404040"/>
                </a:solidFill>
                <a:latin typeface="TsangerJinKai02"/>
                <a:ea typeface="TsangerJinKai02"/>
                <a:cs typeface="TsangerJinKai02"/>
              </a:rPr>
              <a:t>用报纸单元组织内容，而不是把旧模块重新涂黑。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800" y="141732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CC0000"/>
                </a:solidFill>
                <a:latin typeface="TsangerJinKai02"/>
                <a:ea typeface="TsangerJinKai02"/>
                <a:cs typeface="TsangerJinKai02"/>
              </a:rPr>
              <a:t>02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543800" y="1938528"/>
            <a:ext cx="1536192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543800" y="2176272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11111"/>
                </a:solidFill>
                <a:latin typeface="TsangerJinKai02"/>
                <a:ea typeface="TsangerJinKai02"/>
                <a:cs typeface="TsangerJinKai02"/>
              </a:rPr>
              <a:t>Rewrite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265176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404040"/>
                </a:solidFill>
                <a:latin typeface="TsangerJinKai02"/>
                <a:ea typeface="TsangerJinKai02"/>
                <a:cs typeface="TsangerJinKai02"/>
              </a:rPr>
              <a:t>用报纸单元组织内容，而不是把旧模块重新涂黑。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1417320"/>
            <a:ext cx="1280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CC0000"/>
                </a:solidFill>
                <a:latin typeface="TsangerJinKai02"/>
                <a:ea typeface="TsangerJinKai02"/>
                <a:cs typeface="TsangerJinKai02"/>
              </a:rPr>
              <a:t>03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509760" y="1938528"/>
            <a:ext cx="1536192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509760" y="2176272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11111"/>
                </a:solidFill>
                <a:latin typeface="TsangerJinKai02"/>
                <a:ea typeface="TsangerJinKai02"/>
                <a:cs typeface="TsangerJinKai02"/>
              </a:rPr>
              <a:t>Typeset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65176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>
                <a:solidFill>
                  <a:srgbClr val="404040"/>
                </a:solidFill>
                <a:latin typeface="TsangerJinKai02"/>
                <a:ea typeface="TsangerJinKai02"/>
                <a:cs typeface="TsangerJinKai02"/>
              </a:rPr>
              <a:t>用报纸单元组织内容，而不是把旧模块重新涂黑。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256032"/>
            <a:ext cx="3108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737373"/>
                </a:solidFill>
                <a:latin typeface="TsangerJinKai02"/>
                <a:ea typeface="TsangerJinKai02"/>
                <a:cs typeface="TsangerJinKai02"/>
              </a:rPr>
              <a:t>VOL. 01 | OUTPUTS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60" y="1828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0">
                <a:solidFill>
                  <a:srgbClr val="111111"/>
                </a:solidFill>
                <a:latin typeface="TsangerJinKai02"/>
                <a:ea typeface="TsangerJinKai02"/>
                <a:cs typeface="TsangerJinKai02"/>
              </a:rPr>
              <a:t>THE NEWSPRINT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256032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737373"/>
                </a:solidFill>
                <a:latin typeface="TsangerJinKai02"/>
                <a:ea typeface="TsangerJinKai02"/>
                <a:cs typeface="TsangerJinKai02"/>
              </a:rPr>
              <a:t>PAGE 06 / 08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" y="658368"/>
            <a:ext cx="11368735" cy="0"/>
          </a:xfrm>
          <a:prstGeom prst="line">
            <a:avLst/>
          </a:prstGeom>
          <a:ln w="508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" y="6199632"/>
            <a:ext cx="11368735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987552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>
                <a:solidFill>
                  <a:srgbClr val="111111"/>
                </a:solidFill>
                <a:latin typeface="TsangerJinKai02"/>
                <a:ea typeface="TsangerJinKai02"/>
                <a:cs typeface="TsangerJinKai02"/>
              </a:rPr>
              <a:t>同一套新闻纸语言覆盖 PDF 与 PPT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11480" y="1874519"/>
            <a:ext cx="11368735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2075687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CC0000"/>
                </a:solidFill>
                <a:latin typeface="TsangerJinKai02"/>
                <a:ea typeface="TsangerJinKai02"/>
                <a:cs typeface="TsangerJinKai02"/>
              </a:rPr>
              <a:t>ONE-PAGER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039111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04040"/>
                </a:solidFill>
                <a:latin typeface="TsangerJinKai02"/>
                <a:ea typeface="TsangerJinKai02"/>
                <a:cs typeface="TsangerJinKai02"/>
              </a:rPr>
              <a:t>头版 brief：masthead / ticker / hero / data / sidebar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1480" y="2862071"/>
            <a:ext cx="11368735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3063239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CC0000"/>
                </a:solidFill>
                <a:latin typeface="TsangerJinKai02"/>
                <a:ea typeface="TsangerJinKai02"/>
                <a:cs typeface="TsangerJinKai02"/>
              </a:rPr>
              <a:t>LONG-DOC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3026663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04040"/>
                </a:solidFill>
                <a:latin typeface="TsangerJinKai02"/>
                <a:ea typeface="TsangerJinKai02"/>
                <a:cs typeface="TsangerJinKai02"/>
              </a:rPr>
              <a:t>跨页 report：cover / contents / article spread / data column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1480" y="3849623"/>
            <a:ext cx="11368735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4050791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CC0000"/>
                </a:solidFill>
                <a:latin typeface="TsangerJinKai02"/>
                <a:ea typeface="TsangerJinKai02"/>
                <a:cs typeface="TsangerJinKai02"/>
              </a:rPr>
              <a:t>LETTER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14600" y="4014215"/>
            <a:ext cx="79552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04040"/>
                </a:solidFill>
                <a:latin typeface="TsangerJinKai02"/>
                <a:ea typeface="TsangerJinKai02"/>
                <a:cs typeface="TsangerJinKai02"/>
              </a:rPr>
              <a:t>correspondence desk：byline / subject / letter body / evidence column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11480" y="4837175"/>
            <a:ext cx="11368735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per-over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480" y="256032"/>
            <a:ext cx="31089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737373"/>
                </a:solidFill>
                <a:latin typeface="TsangerJinKai02"/>
                <a:ea typeface="TsangerJinKai02"/>
                <a:cs typeface="TsangerJinKai02"/>
              </a:rPr>
              <a:t>VOL. 01 |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794760" y="1828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0">
                <a:solidFill>
                  <a:srgbClr val="111111"/>
                </a:solidFill>
                <a:latin typeface="TsangerJinKai02"/>
                <a:ea typeface="TsangerJinKai02"/>
                <a:cs typeface="TsangerJinKai02"/>
              </a:rPr>
              <a:t>THE NEWSPRINT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180015" y="256032"/>
            <a:ext cx="1600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700" b="0">
                <a:solidFill>
                  <a:srgbClr val="737373"/>
                </a:solidFill>
                <a:latin typeface="TsangerJinKai02"/>
                <a:ea typeface="TsangerJinKai02"/>
                <a:cs typeface="TsangerJinKai02"/>
              </a:rPr>
              <a:t>PAGE 07 / 08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1480" y="658368"/>
            <a:ext cx="11368735" cy="0"/>
          </a:xfrm>
          <a:prstGeom prst="line">
            <a:avLst/>
          </a:prstGeom>
          <a:ln w="508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11480" y="6199632"/>
            <a:ext cx="11368735" cy="0"/>
          </a:xfrm>
          <a:prstGeom prst="line">
            <a:avLst/>
          </a:prstGeom>
          <a:ln w="12700">
            <a:solidFill>
              <a:srgbClr val="1111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1143000"/>
            <a:ext cx="786384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6000"/>
              </a:lnSpc>
            </a:pPr>
            <a:r>
              <a:rPr sz="5000" b="0">
                <a:solidFill>
                  <a:srgbClr val="111111"/>
                </a:solidFill>
                <a:latin typeface="TsangerJinKai02"/>
                <a:ea typeface="TsangerJinKai02"/>
                <a:cs typeface="TsangerJinKai02"/>
              </a:rPr>
              <a:t>不是换色。
是换版面逻辑。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66760" y="1188720"/>
            <a:ext cx="2834640" cy="3383280"/>
          </a:xfrm>
          <a:prstGeom prst="rect">
            <a:avLst/>
          </a:prstGeom>
          <a:solidFill>
            <a:srgbClr val="11111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22792" y="1554480"/>
            <a:ext cx="2286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>
                <a:solidFill>
                  <a:srgbClr val="F9F9F7"/>
                </a:solidFill>
                <a:latin typeface="TsangerJinKai02"/>
                <a:ea typeface="TsangerJinKai02"/>
                <a:cs typeface="TsangerJinKai02"/>
              </a:rPr>
              <a:t>NO RADIUS
NO SOFT SHADOW
NO PLAQUES
NO MANUSCRIPT 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3977639"/>
            <a:ext cx="5852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404040"/>
                </a:solidFill>
                <a:latin typeface="TsangerJinKai02"/>
                <a:ea typeface="TsangerJinKai02"/>
                <a:cs typeface="TsangerJinKai02"/>
              </a:rPr>
              <a:t>All the News That's Fit to Print.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TsangerJinKai02"/>
        <a:ea typeface="TsangerJinKai02"/>
        <a:cs typeface="TsangerJinKai02"/>
        <a:font script="Jpan" typeface="ＭＳ Ｐゴシック"/>
        <a:font script="Hang" typeface="맑은 고딕"/>
        <a:font script="Hans" typeface="TsangerJinKai02"/>
        <a:font script="Hant" typeface="TsangerJinKai02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sangerJinKai02"/>
        <a:ea typeface="TsangerJinKai02"/>
        <a:cs typeface="TsangerJinKai02"/>
        <a:font script="Jpan" typeface="ＭＳ Ｐゴシック"/>
        <a:font script="Hang" typeface="맑은 고딕"/>
        <a:font script="Hans" typeface="TsangerJinKai02"/>
        <a:font script="Hant" typeface="TsangerJinKai02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