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502920"/>
            <a:ext cx="2103120" cy="21031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375" y="658368"/>
            <a:ext cx="731520" cy="73152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">
            <a:off x="10911535" y="5760720"/>
            <a:ext cx="822960" cy="822960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PLAYFUL GEOMETRIC | FRONT STICKER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25603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01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069848"/>
            <a:ext cx="7086600" cy="3429000"/>
          </a:xfrm>
          <a:prstGeom prst="roundRect">
            <a:avLst/>
          </a:prstGeom>
          <a:solidFill>
            <a:srgbClr val="8B5CF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960120"/>
            <a:ext cx="7086600" cy="34290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344168"/>
            <a:ext cx="1417320" cy="3108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234440"/>
            <a:ext cx="1417320" cy="310896"/>
          </a:xfrm>
          <a:prstGeom prst="roundRect">
            <a:avLst/>
          </a:prstGeom>
          <a:solidFill>
            <a:srgbClr val="FBBF24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321308"/>
            <a:ext cx="12710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KAMI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55648"/>
            <a:ext cx="61722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把 AI 文档
排成几何贴纸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5760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Inter"/>
                <a:ea typeface="Source Han Sans SC"/>
                <a:cs typeface="Inter"/>
              </a:rPr>
              <a:t>Stable Grid, Wild Decoration. 内容保持清楚，周围用圆、三角、pill、斜纹和硬偏移阴影制造开心的触感。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7" y="1344168"/>
            <a:ext cx="2926080" cy="1325880"/>
          </a:xfrm>
          <a:prstGeom prst="roundRect">
            <a:avLst/>
          </a:prstGeom>
          <a:solidFill>
            <a:srgbClr val="8B5CF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2926080" cy="1325880"/>
          </a:xfrm>
          <a:prstGeom prst="roundRect">
            <a:avLst/>
          </a:prstGeom>
          <a:solidFill>
            <a:srgbClr val="34D399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No stale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90195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不用旧式页框，
只保留稳定结构。</a:t>
            </a:r>
          </a:p>
        </p:txBody>
      </p:sp>
      <p:sp>
        <p:nvSpPr>
          <p:cNvPr id="19" name="Rounded Rectangle 18"/>
          <p:cNvSpPr/>
          <p:nvPr/>
        </p:nvSpPr>
        <p:spPr>
          <a:xfrm rot="21480000">
            <a:off x="8430768" y="2944368"/>
            <a:ext cx="2697480" cy="1554480"/>
          </a:xfrm>
          <a:prstGeom prst="roundRect">
            <a:avLst/>
          </a:prstGeom>
          <a:solidFill>
            <a:srgbClr val="FBBF24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 rot="21480000">
            <a:off x="8321040" y="2834640"/>
            <a:ext cx="2697480" cy="1554480"/>
          </a:xfrm>
          <a:prstGeom prst="roundRect">
            <a:avLst/>
          </a:prstGeom>
          <a:solidFill>
            <a:srgbClr val="F472B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182112"/>
            <a:ext cx="2057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Primitive
Shapes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3822191"/>
            <a:ext cx="21579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圆、三角、pill、
斜纹轮流出场。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502920"/>
            <a:ext cx="2103120" cy="21031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375" y="658368"/>
            <a:ext cx="731520" cy="73152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">
            <a:off x="10911535" y="5760720"/>
            <a:ext cx="822960" cy="822960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PLAYFUL GEOMETRIC |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25603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02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明亮色彩，像贴纸盒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984247"/>
            <a:ext cx="2240280" cy="1920240"/>
          </a:xfrm>
          <a:prstGeom prst="roundRect">
            <a:avLst/>
          </a:prstGeom>
          <a:solidFill>
            <a:srgbClr val="F472B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2240280" cy="1920240"/>
          </a:xfrm>
          <a:prstGeom prst="roundRect">
            <a:avLst/>
          </a:prstGeom>
          <a:solidFill>
            <a:srgbClr val="8B5CF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Inter"/>
                <a:ea typeface="Source Han Sans SC"/>
                <a:cs typeface="Inter"/>
              </a:rPr>
              <a:t>Violet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984247"/>
            <a:ext cx="2240280" cy="1920240"/>
          </a:xfrm>
          <a:prstGeom prst="roundRect">
            <a:avLst/>
          </a:prstGeom>
          <a:solidFill>
            <a:srgbClr val="FBBF24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1874519"/>
            <a:ext cx="2240280" cy="1920240"/>
          </a:xfrm>
          <a:prstGeom prst="roundRect">
            <a:avLst/>
          </a:prstGeom>
          <a:solidFill>
            <a:srgbClr val="F472B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606040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Pink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7608" y="1984247"/>
            <a:ext cx="2240280" cy="1920240"/>
          </a:xfrm>
          <a:prstGeom prst="roundRect">
            <a:avLst/>
          </a:prstGeom>
          <a:solidFill>
            <a:srgbClr val="34D399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97880" y="1874519"/>
            <a:ext cx="2240280" cy="1920240"/>
          </a:xfrm>
          <a:prstGeom prst="roundRect">
            <a:avLst/>
          </a:prstGeom>
          <a:solidFill>
            <a:srgbClr val="FBBF24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606040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Amber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05088" y="1984247"/>
            <a:ext cx="2240280" cy="1920240"/>
          </a:xfrm>
          <a:prstGeom prst="roundRect">
            <a:avLst/>
          </a:prstGeom>
          <a:solidFill>
            <a:srgbClr val="8B5CF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1874519"/>
            <a:ext cx="2240280" cy="1920240"/>
          </a:xfrm>
          <a:prstGeom prst="roundRect">
            <a:avLst/>
          </a:prstGeom>
          <a:solidFill>
            <a:srgbClr val="34D399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606040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Mint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0916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34155"/>
                </a:solidFill>
                <a:latin typeface="Inter"/>
                <a:ea typeface="Source Han Sans SC"/>
                <a:cs typeface="Inter"/>
              </a:rPr>
              <a:t>颜色不是给旧方框换皮，而是轮流成为 sticker、badge、shadow、shape。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502920"/>
            <a:ext cx="2103120" cy="21031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375" y="658368"/>
            <a:ext cx="731520" cy="73152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">
            <a:off x="10911535" y="5760720"/>
            <a:ext cx="822960" cy="822960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PLAYFUL GEOMETRIC | STABLE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25603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03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稳定网格，野生装饰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47088"/>
            <a:ext cx="3246120" cy="1554480"/>
          </a:xfrm>
          <a:prstGeom prst="roundRect">
            <a:avLst/>
          </a:prstGeom>
          <a:solidFill>
            <a:srgbClr val="8B5CF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3246120" cy="15544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" y="2048256"/>
            <a:ext cx="594360" cy="3108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4088" y="1938528"/>
            <a:ext cx="594360" cy="310896"/>
          </a:xfrm>
          <a:prstGeom prst="roundRect">
            <a:avLst/>
          </a:prstGeom>
          <a:solidFill>
            <a:srgbClr val="8B5CF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25396"/>
            <a:ext cx="4480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32304"/>
            <a:ext cx="27340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Hero 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1847088"/>
            <a:ext cx="3246120" cy="1554480"/>
          </a:xfrm>
          <a:prstGeom prst="roundRect">
            <a:avLst/>
          </a:prstGeom>
          <a:solidFill>
            <a:srgbClr val="8B5CF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6120" y="1737360"/>
            <a:ext cx="3246120" cy="1554480"/>
          </a:xfrm>
          <a:prstGeom prst="roundRect">
            <a:avLst/>
          </a:prstGeom>
          <a:solidFill>
            <a:srgbClr val="34D399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57016" y="2048256"/>
            <a:ext cx="594360" cy="3108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47288" y="1938528"/>
            <a:ext cx="594360" cy="310896"/>
          </a:xfrm>
          <a:prstGeom prst="roundRect">
            <a:avLst/>
          </a:prstGeom>
          <a:solidFill>
            <a:srgbClr val="8B5CF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025396"/>
            <a:ext cx="4480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432304"/>
            <a:ext cx="27340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Side Bubble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721607"/>
            <a:ext cx="3246120" cy="1554480"/>
          </a:xfrm>
          <a:prstGeom prst="roundRect">
            <a:avLst/>
          </a:prstGeom>
          <a:solidFill>
            <a:srgbClr val="34D399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611879"/>
            <a:ext cx="3246120" cy="1554480"/>
          </a:xfrm>
          <a:prstGeom prst="roundRect">
            <a:avLst/>
          </a:prstGeom>
          <a:solidFill>
            <a:srgbClr val="FBBF24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" y="3922775"/>
            <a:ext cx="594360" cy="3108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3813047"/>
            <a:ext cx="594360" cy="310896"/>
          </a:xfrm>
          <a:prstGeom prst="roundRect">
            <a:avLst/>
          </a:prstGeom>
          <a:solidFill>
            <a:srgbClr val="8B5CF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99915"/>
            <a:ext cx="4480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306823"/>
            <a:ext cx="27340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Metric Sticker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5848" y="3721607"/>
            <a:ext cx="3246120" cy="1554480"/>
          </a:xfrm>
          <a:prstGeom prst="roundRect">
            <a:avLst/>
          </a:prstGeom>
          <a:solidFill>
            <a:srgbClr val="FBBF24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46120" y="3611879"/>
            <a:ext cx="3246120" cy="1554480"/>
          </a:xfrm>
          <a:prstGeom prst="roundRect">
            <a:avLst/>
          </a:prstGeom>
          <a:solidFill>
            <a:srgbClr val="F472B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57016" y="3922775"/>
            <a:ext cx="594360" cy="3108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47288" y="3813047"/>
            <a:ext cx="594360" cy="310896"/>
          </a:xfrm>
          <a:prstGeom prst="roundRect">
            <a:avLst/>
          </a:prstGeom>
          <a:solidFill>
            <a:srgbClr val="8B5CF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899915"/>
            <a:ext cx="4480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4306823"/>
            <a:ext cx="27340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Action Pop</a:t>
            </a:r>
          </a:p>
        </p:txBody>
      </p:sp>
      <p:sp>
        <p:nvSpPr>
          <p:cNvPr id="33" name="Oval 32"/>
          <p:cNvSpPr/>
          <p:nvPr/>
        </p:nvSpPr>
        <p:spPr>
          <a:xfrm>
            <a:off x="7955279" y="1828800"/>
            <a:ext cx="2011680" cy="201168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 rot="21180000">
            <a:off x="7315200" y="4160520"/>
            <a:ext cx="3200400" cy="6858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283464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结构稳定，装饰可以玩。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502920"/>
            <a:ext cx="2103120" cy="21031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375" y="658368"/>
            <a:ext cx="731520" cy="73152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">
            <a:off x="10911535" y="5760720"/>
            <a:ext cx="822960" cy="822960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PLAYFUL GEOMETRIC |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25603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04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PDF 与 PPT 使用同一套几何语言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938528"/>
            <a:ext cx="9875520" cy="731520"/>
          </a:xfrm>
          <a:prstGeom prst="roundRect">
            <a:avLst/>
          </a:prstGeom>
          <a:solidFill>
            <a:srgbClr val="8B5CF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9875520" cy="73152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One-pager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03911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Inter"/>
                <a:ea typeface="Source Han Sans SC"/>
                <a:cs typeface="Inter"/>
              </a:rPr>
              <a:t>hero sticker + metric chips + action pop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081528"/>
            <a:ext cx="9875520" cy="731520"/>
          </a:xfrm>
          <a:prstGeom prst="roundRect">
            <a:avLst/>
          </a:prstGeom>
          <a:solidFill>
            <a:srgbClr val="8B5CF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9875520" cy="731520"/>
          </a:xfrm>
          <a:prstGeom prst="roundRect">
            <a:avLst/>
          </a:prstGeom>
          <a:solidFill>
            <a:srgbClr val="34D399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72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Long-doc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18211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Inter"/>
                <a:ea typeface="Source Han Sans SC"/>
                <a:cs typeface="Inter"/>
              </a:rPr>
              <a:t>cover stickers + bouncy toc + proof sidebar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224528"/>
            <a:ext cx="9875520" cy="731520"/>
          </a:xfrm>
          <a:prstGeom prst="roundRect">
            <a:avLst/>
          </a:prstGeom>
          <a:solidFill>
            <a:srgbClr val="FBBF24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9875520" cy="731520"/>
          </a:xfrm>
          <a:prstGeom prst="roundRect">
            <a:avLst/>
          </a:prstGeom>
          <a:solidFill>
            <a:srgbClr val="F472B6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32511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34155"/>
                </a:solidFill>
                <a:latin typeface="Inter"/>
                <a:ea typeface="Source Han Sans SC"/>
                <a:cs typeface="Inter"/>
              </a:rPr>
              <a:t>speech bubble title + proof pops + rounded body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-502920"/>
            <a:ext cx="2103120" cy="21031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74375" y="658368"/>
            <a:ext cx="731520" cy="73152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">
            <a:off x="10911535" y="5760720"/>
            <a:ext cx="822960" cy="822960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4297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PLAYFUL GEOMETRIC |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25603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64748B"/>
                </a:solidFill>
                <a:latin typeface="Inter"/>
                <a:ea typeface="Source Han Sans SC"/>
                <a:cs typeface="Inter"/>
              </a:rPr>
              <a:t>05 /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298448"/>
            <a:ext cx="7498079" cy="2743200"/>
          </a:xfrm>
          <a:prstGeom prst="roundRect">
            <a:avLst/>
          </a:prstGeom>
          <a:solidFill>
            <a:srgbClr val="FBBF24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7498079" cy="27432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554480"/>
            <a:ext cx="1691640" cy="3108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444752"/>
            <a:ext cx="1691640" cy="310896"/>
          </a:xfrm>
          <a:prstGeom prst="roundRect">
            <a:avLst/>
          </a:prstGeom>
          <a:solidFill>
            <a:srgbClr val="FBBF24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531620"/>
            <a:ext cx="1545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STICKER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6446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80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不是换色。
是换成贴纸世界。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76488" y="1618488"/>
            <a:ext cx="2560320" cy="1417320"/>
          </a:xfrm>
          <a:prstGeom prst="roundRect">
            <a:avLst/>
          </a:prstGeom>
          <a:solidFill>
            <a:srgbClr val="F472B6"/>
          </a:solidFill>
          <a:ln w="254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508760"/>
            <a:ext cx="2560320" cy="141732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182880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E293B"/>
                </a:solidFill>
                <a:latin typeface="Inter"/>
                <a:ea typeface="Source Han Sans SC"/>
                <a:cs typeface="Inter"/>
              </a:rPr>
              <a:t>Keep it bright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130552"/>
            <a:ext cx="20848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334155"/>
                </a:solidFill>
                <a:latin typeface="Inter"/>
                <a:ea typeface="Source Han Sans SC"/>
                <a:cs typeface="Inter"/>
              </a:rPr>
              <a:t>Grid first,
joy second.</a:t>
            </a:r>
          </a:p>
        </p:txBody>
      </p:sp>
      <p:sp>
        <p:nvSpPr>
          <p:cNvPr id="18" name="Oval 17"/>
          <p:cNvSpPr/>
          <p:nvPr/>
        </p:nvSpPr>
        <p:spPr>
          <a:xfrm>
            <a:off x="8549640" y="3246120"/>
            <a:ext cx="2240280" cy="224028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20700000">
            <a:off x="8321040" y="5138928"/>
            <a:ext cx="1005840" cy="1005840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3832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34155"/>
                </a:solidFill>
                <a:latin typeface="Inter"/>
                <a:ea typeface="Source Han Sans SC"/>
                <a:cs typeface="Inter"/>
              </a:rPr>
              <a:t>Friendly. Tactile. Pop. Energetic.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Source Han Sans SC"/>
        <a:cs typeface=""/>
        <a:font script="Jpan" typeface="ＭＳ Ｐゴシック"/>
        <a:font script="Hang" typeface="맑은 고딕"/>
        <a:font script="Hans" typeface="Source Han Sans SC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Source Han Sans SC"/>
        <a:cs typeface=""/>
        <a:font script="Jpan" typeface="ＭＳ Ｐゴシック"/>
        <a:font script="Hang" typeface="맑은 고딕"/>
        <a:font script="Hans" typeface="Source Han Sans SC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