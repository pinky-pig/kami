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TESLA 2027 MOCK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01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" y="2011680"/>
            <a:ext cx="6400800" cy="256032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2130552"/>
            <a:ext cx="6163056" cy="2322576"/>
          </a:xfrm>
          <a:prstGeom prst="rect">
            <a:avLst/>
          </a:prstGeom>
          <a:solidFill>
            <a:srgbClr val="243851"/>
          </a:solidFill>
          <a:ln w="9525">
            <a:solidFill>
              <a:srgbClr val="F3E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304288"/>
            <a:ext cx="5705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KAMI · REPUBLICAN MANUSCRIPT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06624"/>
            <a:ext cx="574243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F3EFEB"/>
                </a:solidFill>
                <a:latin typeface="Newsreader"/>
                <a:ea typeface="京華老宋体"/>
                <a:cs typeface="Newsreader"/>
              </a:rPr>
              <a:t>Tesla 2027
增长与产能叙事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133088"/>
            <a:ext cx="5705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D5DEE7"/>
                </a:solidFill>
                <a:latin typeface="Newsreader"/>
                <a:ea typeface="TsangerJinKai02-W04"/>
                <a:cs typeface="Newsreader"/>
              </a:rPr>
              <a:t>Robotaxi / Energy / Optimus / AI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31136"/>
            <a:ext cx="315468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此 deck 用 republican-manuscript skill 生成。
全部数据与图片均为 mock，用于验证 PPTX / Slidev 双产物路径。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895344"/>
            <a:ext cx="1417320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4041648"/>
            <a:ext cx="1088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4425696"/>
            <a:ext cx="10881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GROWTH BETS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4645152"/>
            <a:ext cx="1088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车 / 能源 / 算力 / 机器人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36608" y="3895344"/>
            <a:ext cx="1417320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041648"/>
            <a:ext cx="1088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425696"/>
            <a:ext cx="10881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SLIDES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645152"/>
            <a:ext cx="1088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dual-output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55961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2026.04 · MOCK DATA · INTERNAL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INVESTMENT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02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01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核心判断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243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Tesla 的下一阶段估值不再只由整车交付驱动，而是由制造、软件、能源与机器人四条曲线共同决定。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02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" y="2258567"/>
            <a:ext cx="2304288" cy="2240280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2416" y="2258567"/>
            <a:ext cx="2304288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BET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Robotaxi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把 FSD 资产从一次性卖车收入，转换成持续运营收入。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66744" y="2258567"/>
            <a:ext cx="2304288" cy="2240280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66744" y="2258567"/>
            <a:ext cx="2304288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1336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BET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储能业务用更稳定的交付节奏，平衡汽车周期波动。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258567"/>
            <a:ext cx="2304288" cy="2240280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2258567"/>
            <a:ext cx="2304288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BET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Factory 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上海与得州工厂共享工艺、软件和供应链缓冲带。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2258567"/>
            <a:ext cx="2304288" cy="2240280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2258567"/>
            <a:ext cx="2304288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BET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Optimus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机器人先在自家工厂落地，再逐步外溢到物流与服务。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519379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四条曲线共用电池、算力、软件与工厂资产。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03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02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上海与得州进入同屏扩产期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243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Mock 逻辑：一个工厂守住成本，一个工厂承接新平台切换，产能结构比单纯冲量更重要。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03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231136"/>
            <a:ext cx="5577840" cy="3054096"/>
          </a:xfrm>
          <a:prstGeom prst="rect">
            <a:avLst/>
          </a:prstGeom>
          <a:solidFill>
            <a:srgbClr val="F3EFEB"/>
          </a:solidFill>
          <a:ln w="889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ck-tesla-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577840" cy="2706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4992624"/>
            <a:ext cx="5248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MOCK VISUAL · 双工厂协同示意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5.8M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年化产能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两地产线合计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5984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41d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在制周转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切换期目标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85616"/>
            <a:ext cx="3749039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上海继续承担成熟车型与出口任务，稳定现金流与交付节奏。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得州优先给新平台、Robotaxi 版本与下一代低成本总装工艺。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核心不是绝对产能，而是切换效率、良率爬坡与供应链缓冲。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AUTONOMY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04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03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Robotaxi 不是一辆车，而是一套调度业务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243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Mock 逻辑：Robotaxi 的关键变量是上路城市、可用时长、调度效率和安全冗余，不只是硬件 BOM。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04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231136"/>
            <a:ext cx="5577840" cy="3054096"/>
          </a:xfrm>
          <a:prstGeom prst="rect">
            <a:avLst/>
          </a:prstGeom>
          <a:solidFill>
            <a:srgbClr val="F3EFEB"/>
          </a:solidFill>
          <a:ln w="889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ck-tesla-robota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577840" cy="2706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4992624"/>
            <a:ext cx="5248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MOCK VISUAL · 城市内 ROBOTAXI 运营舱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PILOT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首波试点城市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5984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72%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UTILIZATION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高峰时段车辆利用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85616"/>
            <a:ext cx="3749039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先把封闭区域和固定路线跑顺，再扩大到开放路网。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运营系统要同时解决调度、充电、清洁和安全事件闭环。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软件收入开始与里程、活跃车次和城市密度直接相关。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05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04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储能业务负责把增长波动磨平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243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Mock 逻辑：储能给 Tesla 带来的不是更性感的叙事，而是更可预测的交付节奏与更厚的项目储备。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05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231136"/>
            <a:ext cx="5577840" cy="3054096"/>
          </a:xfrm>
          <a:prstGeom prst="rect">
            <a:avLst/>
          </a:prstGeom>
          <a:solidFill>
            <a:srgbClr val="F3EFEB"/>
          </a:solidFill>
          <a:ln w="889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ck-tesla-ener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577840" cy="2706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4992624"/>
            <a:ext cx="5248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MOCK VISUAL · MEGAPACK 项目交付版图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438GWh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BOOKED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在手项目储备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5984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31%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GROSS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项目组合口径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85616"/>
            <a:ext cx="3749039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储能订单周期长，但一旦排产稳定，现金流的可见度远高于整车业务。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电池分配不再只是车与车之间的竞争，而是车与电网项目之间的配置问题。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投资者会开始用项目完工率，而不只是交车数，来判断季度表现。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06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05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Optimus 先证明工厂价值，再讲外部市场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243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Mock 逻辑：机器人最先成立的场景不是家庭，而是 Tesla 自己的搬运、分拣、巡检和夜班替代。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06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231136"/>
            <a:ext cx="5577840" cy="3054096"/>
          </a:xfrm>
          <a:prstGeom prst="rect">
            <a:avLst/>
          </a:prstGeom>
          <a:solidFill>
            <a:srgbClr val="F3EFEB"/>
          </a:solidFill>
          <a:ln w="889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ock-tesla-optim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31136"/>
            <a:ext cx="5577840" cy="2706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1872" y="4992624"/>
            <a:ext cx="5248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MOCK VISUAL · OPTIMUS 在厂内搬运与巡检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18k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INTERNAL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厂内部署节拍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5984" y="2304288"/>
            <a:ext cx="1901952" cy="1078992"/>
          </a:xfrm>
          <a:prstGeom prst="rect">
            <a:avLst/>
          </a:prstGeom>
          <a:solidFill>
            <a:srgbClr val="F3EFEB"/>
          </a:solidFill>
          <a:ln w="10160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0576" y="2450592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23%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2834640"/>
            <a:ext cx="1572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B8782"/>
                </a:solidFill>
                <a:latin typeface="Newsreader"/>
                <a:ea typeface="TsangerJinKai02-W04"/>
                <a:cs typeface="Newsreader"/>
              </a:rPr>
              <a:t>LABOR 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05409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重复工时替代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85616"/>
            <a:ext cx="3749039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第一阶段看单位替代工时，而不是对外销量。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机器人能力演进会反过来倒逼工厂物料标准化与工站重构。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10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只有先在自家场景跑通，外部客户才会把它视为工业设备而不是演示品。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CHECKPOINTS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07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06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未来 18 个月看这五个检查点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243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如果这五个点依次兑现，Tesla 的叙事会从单一汽车股，切换到多业务平台公司。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07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2240279"/>
            <a:ext cx="3072384" cy="1115568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" y="2240279"/>
            <a:ext cx="3072384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331719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679191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Factory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118103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新平台切线期间的良率、库存与现金转换。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2240279"/>
            <a:ext cx="3072384" cy="1115568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44568" y="2240279"/>
            <a:ext cx="3072384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331719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2679191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Robotaxi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118103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首批城市能否跑出稳定运营天数与乘客复购。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9288" y="2240279"/>
            <a:ext cx="3072384" cy="1115568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9288" y="2240279"/>
            <a:ext cx="3072384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31719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2679191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Megapack Throughput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3118103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储能交付是否形成季度级稳定节拍。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" y="3721607"/>
            <a:ext cx="3072384" cy="1115568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9848" y="3721607"/>
            <a:ext cx="3072384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3813047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Q2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160519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Optimus Internal 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4599431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厂内替代工时是否可量化并形成标准方案。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4568" y="3721607"/>
            <a:ext cx="3072384" cy="1115568"/>
          </a:xfrm>
          <a:prstGeom prst="rect">
            <a:avLst/>
          </a:prstGeom>
          <a:solidFill>
            <a:srgbClr val="F3EFEB"/>
          </a:solidFill>
          <a:ln w="8890">
            <a:solidFill>
              <a:srgbClr val="D0C7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44568" y="3721607"/>
            <a:ext cx="3072384" cy="310896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3813047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D5DEE7"/>
                </a:solidFill>
                <a:latin typeface="JetBrains Mono"/>
                <a:ea typeface="JetBrains Mono"/>
                <a:cs typeface="JetBrains Mono"/>
              </a:rPr>
              <a:t>Q2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4160519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32222"/>
                </a:solidFill>
                <a:latin typeface="Newsreader"/>
                <a:ea typeface="京華老宋体"/>
                <a:cs typeface="Newsreader"/>
              </a:rPr>
              <a:t>AI Cost Curve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7448" y="4599431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A4947"/>
                </a:solidFill>
                <a:latin typeface="Newsreader"/>
                <a:ea typeface="TsangerJinKai02-W04"/>
                <a:cs typeface="Newsreader"/>
              </a:rPr>
              <a:t>算力投入是否沉淀成更高的软件附加值。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24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D5B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08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57860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0">
                <a:solidFill>
                  <a:srgbClr val="243851"/>
                </a:solidFill>
                <a:latin typeface="Newsreader"/>
                <a:ea typeface="京華老宋体"/>
                <a:cs typeface="Newsreader"/>
              </a:rPr>
              <a:t>先看兑现节奏，再看叙事想象力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04688" y="3584448"/>
            <a:ext cx="1097280" cy="0"/>
          </a:xfrm>
          <a:prstGeom prst="line">
            <a:avLst/>
          </a:prstGeom>
          <a:ln w="16510">
            <a:solidFill>
              <a:srgbClr val="2438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98448" y="39959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66361"/>
                </a:solidFill>
                <a:latin typeface="Newsreader"/>
                <a:ea typeface="TsangerJinKai02-W04"/>
                <a:cs typeface="Newsreader"/>
              </a:rPr>
              <a:t>Mock 数据 · Mock 图片 · Manuscript 版式 · PPTX / Slidev 双交付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536752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B8782"/>
                </a:solidFill>
                <a:latin typeface="JetBrains Mono"/>
                <a:ea typeface="JetBrains Mono"/>
                <a:cs typeface="JetBrains Mono"/>
              </a:rPr>
              <a:t>TESLA 2027 MOCK BRIEFING · GENERATED WITH KAMI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TsangerJinKai02-W04"/>
        <a:cs typeface=""/>
        <a:font script="Jpan" typeface="ＭＳ Ｐゴシック"/>
        <a:font script="Hang" typeface="맑은 고딕"/>
        <a:font script="Hans" typeface="TsangerJinKai02-W04"/>
        <a:font script="Hant" typeface="TsangerJinKai02-W04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TsangerJinKai02-W04"/>
        <a:cs typeface=""/>
        <a:font script="Jpan" typeface="ＭＳ Ｐゴシック"/>
        <a:font script="Hang" typeface="맑은 고딕"/>
        <a:font script="Hans" typeface="TsangerJinKai02-W04"/>
        <a:font script="Hant" typeface="TsangerJinKai02-W04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