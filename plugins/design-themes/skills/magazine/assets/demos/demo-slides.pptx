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58368" y="530352"/>
            <a:ext cx="10874959" cy="0"/>
          </a:xfrm>
          <a:prstGeom prst="line">
            <a:avLst/>
          </a:prstGeom>
          <a:ln w="12700">
            <a:solidFill>
              <a:srgbClr val="F1EF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58368" y="6364224"/>
            <a:ext cx="10874959" cy="0"/>
          </a:xfrm>
          <a:prstGeom prst="line">
            <a:avLst/>
          </a:prstGeom>
          <a:ln w="6350">
            <a:solidFill>
              <a:srgbClr val="E8E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164592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GUIZANG MAGAZINE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999232" y="265176"/>
            <a:ext cx="320040" cy="0"/>
          </a:xfrm>
          <a:prstGeom prst="line">
            <a:avLst/>
          </a:prstGeom>
          <a:ln w="7620">
            <a:solidFill>
              <a:srgbClr val="E8E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401568" y="164592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SLIDE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8767" y="164592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4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ACT 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510528"/>
            <a:ext cx="6217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1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EDITORIAL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07247" y="6510528"/>
            <a:ext cx="2926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1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VOL.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36047" y="6510528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1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01 / 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914400"/>
            <a:ext cx="5303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EDITORIAL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207008"/>
            <a:ext cx="6309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38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把 AI 文档
排成真正的新主题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487168"/>
            <a:ext cx="57607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2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Guizang 的重点不是一层纸感，也不是一套颜色，而是 chrome、hero、组件、留白和节奏共同组成的出版语言。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12480" y="1097280"/>
            <a:ext cx="2651760" cy="0"/>
          </a:xfrm>
          <a:prstGeom prst="line">
            <a:avLst/>
          </a:prstGeom>
          <a:ln w="8890">
            <a:solidFill>
              <a:srgbClr val="E8E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412480" y="1207008"/>
            <a:ext cx="2651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FORMATS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1371600"/>
            <a:ext cx="2651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HTML / PDF / 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719072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一个主题，多个出口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12480" y="2157984"/>
            <a:ext cx="2651760" cy="0"/>
          </a:xfrm>
          <a:prstGeom prst="line">
            <a:avLst/>
          </a:prstGeom>
          <a:ln w="8890">
            <a:solidFill>
              <a:srgbClr val="E8E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12480" y="2267712"/>
            <a:ext cx="2651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TYPOGRAPHY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432304"/>
            <a:ext cx="2651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Serif / Sans / Mono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779776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标题、正文、元信息分层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412480" y="3218688"/>
            <a:ext cx="2651760" cy="0"/>
          </a:xfrm>
          <a:prstGeom prst="line">
            <a:avLst/>
          </a:prstGeom>
          <a:ln w="8890">
            <a:solidFill>
              <a:srgbClr val="E8E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412480" y="3328416"/>
            <a:ext cx="2651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RHYTHM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3493008"/>
            <a:ext cx="2651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Dark Editorial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840480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全套输出保持单一黑色模式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4846320"/>
            <a:ext cx="6217920" cy="0"/>
          </a:xfrm>
          <a:prstGeom prst="line">
            <a:avLst/>
          </a:prstGeom>
          <a:ln w="12700">
            <a:solidFill>
              <a:srgbClr val="F1EF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5010912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0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主题是系统，不是调色板。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852160"/>
            <a:ext cx="6217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GUIZANG PRINCIPLE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58368" y="530352"/>
            <a:ext cx="10874959" cy="0"/>
          </a:xfrm>
          <a:prstGeom prst="line">
            <a:avLst/>
          </a:prstGeom>
          <a:ln w="12700">
            <a:solidFill>
              <a:srgbClr val="F1EF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58368" y="6364224"/>
            <a:ext cx="10874959" cy="0"/>
          </a:xfrm>
          <a:prstGeom prst="line">
            <a:avLst/>
          </a:prstGeom>
          <a:ln w="6350">
            <a:solidFill>
              <a:srgbClr val="E8E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164592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WHAT CHANGED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999232" y="265176"/>
            <a:ext cx="320040" cy="0"/>
          </a:xfrm>
          <a:prstGeom prst="line">
            <a:avLst/>
          </a:prstGeom>
          <a:ln w="7620">
            <a:solidFill>
              <a:srgbClr val="E8E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401568" y="164592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SYSTEM NOT PALETTE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8767" y="164592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4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ACT 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510528"/>
            <a:ext cx="6217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1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LANGUAGE SHIFT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07247" y="6510528"/>
            <a:ext cx="2926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1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02 / 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91440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NOT A RECOLOR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170432"/>
            <a:ext cx="6400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30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这次重做的，是版式语法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旧版本的问题在于保留了 manuscript 的 framed page、plaque block 和 archive card 母结构。现在换成了更接近 Guizang 原版 deck 的 headline、stat spread、rowline 和 chapter rhythm。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2761488"/>
            <a:ext cx="2240280" cy="0"/>
          </a:xfrm>
          <a:prstGeom prst="line">
            <a:avLst/>
          </a:prstGeom>
          <a:ln w="12700">
            <a:solidFill>
              <a:srgbClr val="F1EF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2871216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HERO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072384"/>
            <a:ext cx="2240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511296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8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封面和幕封负责拉开节奏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401568" y="2761488"/>
            <a:ext cx="2240280" cy="0"/>
          </a:xfrm>
          <a:prstGeom prst="line">
            <a:avLst/>
          </a:prstGeom>
          <a:ln w="12700">
            <a:solidFill>
              <a:srgbClr val="F1EF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401568" y="2871216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COMPONENTS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1568" y="3072384"/>
            <a:ext cx="2240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1568" y="3511296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8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stat / rowline / pillar / quote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980176" y="2761488"/>
            <a:ext cx="2240280" cy="0"/>
          </a:xfrm>
          <a:prstGeom prst="line">
            <a:avLst/>
          </a:prstGeom>
          <a:ln w="12700">
            <a:solidFill>
              <a:srgbClr val="F1EF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980176" y="2871216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SURFACES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0176" y="3072384"/>
            <a:ext cx="2240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0176" y="3511296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8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dark theme / editorial card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558784" y="2761488"/>
            <a:ext cx="2240280" cy="0"/>
          </a:xfrm>
          <a:prstGeom prst="line">
            <a:avLst/>
          </a:prstGeom>
          <a:ln w="12700">
            <a:solidFill>
              <a:srgbClr val="F1EF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558784" y="2871216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DELIVERABLES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58784" y="3072384"/>
            <a:ext cx="2240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8784" y="3511296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8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核心模板同步改造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58368" y="4645152"/>
            <a:ext cx="10241280" cy="0"/>
          </a:xfrm>
          <a:prstGeom prst="line">
            <a:avLst/>
          </a:prstGeom>
          <a:ln w="8890">
            <a:solidFill>
              <a:srgbClr val="E8E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" y="475488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Chrome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52928" y="4745736"/>
            <a:ext cx="6766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页眉页脚回到杂志导航语义，而不是文档边框装饰。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93808" y="4754880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9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META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58368" y="5102352"/>
            <a:ext cx="10241280" cy="0"/>
          </a:xfrm>
          <a:prstGeom prst="line">
            <a:avLst/>
          </a:prstGeom>
          <a:ln w="8890">
            <a:solidFill>
              <a:srgbClr val="E8E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58368" y="521208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Hierarchy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52928" y="5202936"/>
            <a:ext cx="6766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标题由衬线负责冲击，正文交给 sans，元信息交给 mono。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93808" y="5212080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9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TYPE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58368" y="5559552"/>
            <a:ext cx="10241280" cy="0"/>
          </a:xfrm>
          <a:prstGeom prst="line">
            <a:avLst/>
          </a:prstGeom>
          <a:ln w="8890">
            <a:solidFill>
              <a:srgbClr val="E8E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8368" y="566928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Rhythm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52928" y="5660136"/>
            <a:ext cx="6766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HTML / PDF / PPT 都有 hero 页与正文页的明显节奏切换。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93808" y="5669280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9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FLOW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58368" y="530352"/>
            <a:ext cx="10874959" cy="0"/>
          </a:xfrm>
          <a:prstGeom prst="line">
            <a:avLst/>
          </a:prstGeom>
          <a:ln w="12700">
            <a:solidFill>
              <a:srgbClr val="F1EF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58368" y="6364224"/>
            <a:ext cx="10874959" cy="0"/>
          </a:xfrm>
          <a:prstGeom prst="line">
            <a:avLst/>
          </a:prstGeom>
          <a:ln w="6350">
            <a:solidFill>
              <a:srgbClr val="E8E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164592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RHYTHM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999232" y="265176"/>
            <a:ext cx="320040" cy="0"/>
          </a:xfrm>
          <a:prstGeom prst="line">
            <a:avLst/>
          </a:prstGeom>
          <a:ln w="7620">
            <a:solidFill>
              <a:srgbClr val="E8E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401568" y="164592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HERO / NON-HERO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8767" y="164592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4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ACT 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510528"/>
            <a:ext cx="6217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1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EDITORIAL BREATHING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07247" y="6510528"/>
            <a:ext cx="2926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1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03 / 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914400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LAYOUT RHYTHM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170432"/>
            <a:ext cx="58521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31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封面、转场、正文，不再长得一样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993392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2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Guizang 的阅读体验来自版式密度变化：hero 页负责仪式感，正文页负责信息密度，章节页负责呼吸和转场。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69480" y="1188720"/>
            <a:ext cx="3749039" cy="2560320"/>
          </a:xfrm>
          <a:prstGeom prst="rect">
            <a:avLst/>
          </a:prstGeom>
          <a:solidFill>
            <a:srgbClr val="14100F"/>
          </a:solidFill>
          <a:ln w="889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43800" y="1463040"/>
            <a:ext cx="320039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ACT DIVIDER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2212848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3822192"/>
            <a:ext cx="374903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9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HERO PAGE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4041648"/>
            <a:ext cx="5120640" cy="0"/>
          </a:xfrm>
          <a:prstGeom prst="line">
            <a:avLst/>
          </a:prstGeom>
          <a:ln w="12700">
            <a:solidFill>
              <a:srgbClr val="F1EF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42062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0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如果每一页都像正文，读者就不会记得章节转换。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047488"/>
            <a:ext cx="5120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PACING RULE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269480" y="4261104"/>
            <a:ext cx="1097280" cy="0"/>
          </a:xfrm>
          <a:prstGeom prst="line">
            <a:avLst/>
          </a:prstGeom>
          <a:ln w="12700">
            <a:solidFill>
              <a:srgbClr val="F1EF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269480" y="437083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1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4553712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Hero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80" y="5010912"/>
            <a:ext cx="109728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9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大标题、少量文字、承担记忆点。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613648" y="4261104"/>
            <a:ext cx="1097280" cy="0"/>
          </a:xfrm>
          <a:prstGeom prst="line">
            <a:avLst/>
          </a:prstGeom>
          <a:ln w="12700">
            <a:solidFill>
              <a:srgbClr val="F1EF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613648" y="437083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1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13648" y="4553712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Body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13648" y="5010912"/>
            <a:ext cx="109728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9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rowline、stat、正文段落承担信息。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957816" y="4261104"/>
            <a:ext cx="1097280" cy="0"/>
          </a:xfrm>
          <a:prstGeom prst="line">
            <a:avLst/>
          </a:prstGeom>
          <a:ln w="12700">
            <a:solidFill>
              <a:srgbClr val="F1EF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9957816" y="437083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1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57816" y="4553712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57816" y="5010912"/>
            <a:ext cx="109728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9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章节页负责切换呼吸和视角。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58368" y="530352"/>
            <a:ext cx="10874959" cy="0"/>
          </a:xfrm>
          <a:prstGeom prst="line">
            <a:avLst/>
          </a:prstGeom>
          <a:ln w="12700">
            <a:solidFill>
              <a:srgbClr val="F1EF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58368" y="6364224"/>
            <a:ext cx="10874959" cy="0"/>
          </a:xfrm>
          <a:prstGeom prst="line">
            <a:avLst/>
          </a:prstGeom>
          <a:ln w="6350">
            <a:solidFill>
              <a:srgbClr val="E8E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164592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PIPELINE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999232" y="265176"/>
            <a:ext cx="320040" cy="0"/>
          </a:xfrm>
          <a:prstGeom prst="line">
            <a:avLst/>
          </a:prstGeom>
          <a:ln w="7620">
            <a:solidFill>
              <a:srgbClr val="E8E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401568" y="164592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FROM INPUT TO 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8767" y="164592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4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ACT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510528"/>
            <a:ext cx="6217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1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PRODUCTION 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07247" y="6510528"/>
            <a:ext cx="2926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1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04 / 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914400"/>
            <a:ext cx="4389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DELIVERY CHAIN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170432"/>
            <a:ext cx="67665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30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脚手架只管生成，主题自己决定长相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792224"/>
            <a:ext cx="6400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republican-manuscript 只能保留目录和构建方法；真正决定产物气质的是 Guizang 自己的 layout grammar。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3081528"/>
            <a:ext cx="146304" cy="146304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24712" y="306324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1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31927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Route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611880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8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判断文档类型与语言。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3081528"/>
            <a:ext cx="146304" cy="146304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67912" y="306324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1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31927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Compose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3611880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8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把内容压进 Guizang 组件。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3081528"/>
            <a:ext cx="146304" cy="146304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11112" y="306324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1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331927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Build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611880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8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导出 HTML / PDF / PPTX。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98280" y="3081528"/>
            <a:ext cx="146304" cy="146304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4312" y="306324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1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3319272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Verify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611880"/>
            <a:ext cx="2011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8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页数、字体、占位符一起检查。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353312" y="3136392"/>
            <a:ext cx="8138160" cy="0"/>
          </a:xfrm>
          <a:prstGeom prst="line">
            <a:avLst/>
          </a:prstGeom>
          <a:ln w="8890">
            <a:solidFill>
              <a:srgbClr val="E8E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58368" y="4956048"/>
            <a:ext cx="10241280" cy="0"/>
          </a:xfrm>
          <a:prstGeom prst="line">
            <a:avLst/>
          </a:prstGeom>
          <a:ln w="8890">
            <a:solidFill>
              <a:srgbClr val="E8E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58368" y="5065776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AGENTS.md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52928" y="5056632"/>
            <a:ext cx="6766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严格禁止把 manuscript 当成视觉参考继续套壳。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93808" y="5065776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9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RULE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5413248"/>
            <a:ext cx="10241280" cy="0"/>
          </a:xfrm>
          <a:prstGeom prst="line">
            <a:avLst/>
          </a:prstGeom>
          <a:ln w="8890">
            <a:solidFill>
              <a:srgbClr val="E8E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5522976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templates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52928" y="5513832"/>
            <a:ext cx="6766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HTML、PDF、PPT 都重新改为 Guizang-native 结构。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93808" y="5522976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9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OUTPUT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58368" y="5870448"/>
            <a:ext cx="10241280" cy="0"/>
          </a:xfrm>
          <a:prstGeom prst="line">
            <a:avLst/>
          </a:prstGeom>
          <a:ln w="8890">
            <a:solidFill>
              <a:srgbClr val="E8E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58368" y="5980176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demos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52928" y="5971032"/>
            <a:ext cx="6766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演示文件也同步用新节奏重生成，不再沿用旧样张。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93808" y="5980176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9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DEMO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58368" y="530352"/>
            <a:ext cx="10874959" cy="0"/>
          </a:xfrm>
          <a:prstGeom prst="line">
            <a:avLst/>
          </a:prstGeom>
          <a:ln w="12700">
            <a:solidFill>
              <a:srgbClr val="F1EF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58368" y="6364224"/>
            <a:ext cx="10874959" cy="0"/>
          </a:xfrm>
          <a:prstGeom prst="line">
            <a:avLst/>
          </a:prstGeom>
          <a:ln w="6350">
            <a:solidFill>
              <a:srgbClr val="E8E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164592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ACT DIVIDER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999232" y="265176"/>
            <a:ext cx="320040" cy="0"/>
          </a:xfrm>
          <a:prstGeom prst="line">
            <a:avLst/>
          </a:prstGeom>
          <a:ln w="7620">
            <a:solidFill>
              <a:srgbClr val="E8E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401568" y="164592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ONE LANGUAGE / MANY OUTPUTS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8767" y="164592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4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ACT III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510528"/>
            <a:ext cx="6217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1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TRANSITION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07247" y="6510528"/>
            <a:ext cx="2926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1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05 / 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7043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ACT III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572768"/>
            <a:ext cx="6400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40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同一种语言
不同出口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27248"/>
            <a:ext cx="585216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2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HTML、PDF、PPTX 不需要长得完全一样，但它们必须能被认出属于同一个主题系统。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35240" y="1828800"/>
            <a:ext cx="1051560" cy="0"/>
          </a:xfrm>
          <a:prstGeom prst="line">
            <a:avLst/>
          </a:prstGeom>
          <a:ln w="12700">
            <a:solidFill>
              <a:srgbClr val="F1EF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635240" y="1938528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1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2121408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文档页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2578608"/>
            <a:ext cx="10515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9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章节、正文、引用与导航。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915400" y="1828800"/>
            <a:ext cx="1051560" cy="0"/>
          </a:xfrm>
          <a:prstGeom prst="line">
            <a:avLst/>
          </a:prstGeom>
          <a:ln w="12700">
            <a:solidFill>
              <a:srgbClr val="F1EF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915400" y="1938528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1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PDF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2121408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纸面版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2578608"/>
            <a:ext cx="10515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9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页数控制、阅读密度与导出。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195560" y="1828800"/>
            <a:ext cx="1051560" cy="0"/>
          </a:xfrm>
          <a:prstGeom prst="line">
            <a:avLst/>
          </a:prstGeom>
          <a:ln w="12700">
            <a:solidFill>
              <a:srgbClr val="F1EF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195560" y="1938528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1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5560" y="2121408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演示版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5560" y="2578608"/>
            <a:ext cx="10515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9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hero、转场与讲述节奏。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4400" y="4663440"/>
            <a:ext cx="10058400" cy="0"/>
          </a:xfrm>
          <a:prstGeom prst="line">
            <a:avLst/>
          </a:prstGeom>
          <a:ln w="12700">
            <a:solidFill>
              <a:srgbClr val="F1EF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482803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0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主题的一致性，来自层级和节奏，而不是每处都复制同一个卡片。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66928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SYSTEM CONSISTENCY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58368" y="530352"/>
            <a:ext cx="10874959" cy="0"/>
          </a:xfrm>
          <a:prstGeom prst="line">
            <a:avLst/>
          </a:prstGeom>
          <a:ln w="12700">
            <a:solidFill>
              <a:srgbClr val="F1EF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58368" y="6364224"/>
            <a:ext cx="10874959" cy="0"/>
          </a:xfrm>
          <a:prstGeom prst="line">
            <a:avLst/>
          </a:prstGeom>
          <a:ln w="6350">
            <a:solidFill>
              <a:srgbClr val="E8E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164592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COMPONENTS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999232" y="265176"/>
            <a:ext cx="320040" cy="0"/>
          </a:xfrm>
          <a:prstGeom prst="line">
            <a:avLst/>
          </a:prstGeom>
          <a:ln w="7620">
            <a:solidFill>
              <a:srgbClr val="E8E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401568" y="164592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GUIZANG GRAMMAR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8767" y="164592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4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ACT III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510528"/>
            <a:ext cx="6217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1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CORE PARTS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07247" y="6510528"/>
            <a:ext cx="2926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1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06 / 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91440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CORE COMPONENTS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170432"/>
            <a:ext cx="58521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31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现在这套 deck 用什么说话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41248" y="2377440"/>
            <a:ext cx="3154680" cy="0"/>
          </a:xfrm>
          <a:prstGeom prst="line">
            <a:avLst/>
          </a:prstGeom>
          <a:ln w="12700">
            <a:solidFill>
              <a:srgbClr val="F1EF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41248" y="2487168"/>
            <a:ext cx="3154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1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2670048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Chrome / Foot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3127248"/>
            <a:ext cx="315468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9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用页眉页脚做导航语义，建立杂志感，而不是外框。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462272" y="2377440"/>
            <a:ext cx="3154680" cy="0"/>
          </a:xfrm>
          <a:prstGeom prst="line">
            <a:avLst/>
          </a:prstGeom>
          <a:ln w="12700">
            <a:solidFill>
              <a:srgbClr val="F1EF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62272" y="2487168"/>
            <a:ext cx="3154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1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2670048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Serif / Sans / Mono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272" y="3127248"/>
            <a:ext cx="315468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9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标题冲击、正文承载、元信息节奏，各有明确角色。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083296" y="2377440"/>
            <a:ext cx="3154680" cy="0"/>
          </a:xfrm>
          <a:prstGeom prst="line">
            <a:avLst/>
          </a:prstGeom>
          <a:ln w="12700">
            <a:solidFill>
              <a:srgbClr val="F1EF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083296" y="2487168"/>
            <a:ext cx="3154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1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83296" y="2670048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Stat / Rowline / Pillar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83296" y="3127248"/>
            <a:ext cx="315468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9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数字页、表格式正文和并列观点页，构成可复用组件库。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58368" y="4828032"/>
            <a:ext cx="10058400" cy="0"/>
          </a:xfrm>
          <a:prstGeom prst="line">
            <a:avLst/>
          </a:prstGeom>
          <a:ln w="12700">
            <a:solidFill>
              <a:srgbClr val="F1EF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8368" y="4992624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0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组件不是装饰集合，而是内容被组织的方式。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833872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LAYOUT SYSTEM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58368" y="530352"/>
            <a:ext cx="10874959" cy="0"/>
          </a:xfrm>
          <a:prstGeom prst="line">
            <a:avLst/>
          </a:prstGeom>
          <a:ln w="12700">
            <a:solidFill>
              <a:srgbClr val="F1EF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58368" y="6364224"/>
            <a:ext cx="10874959" cy="0"/>
          </a:xfrm>
          <a:prstGeom prst="line">
            <a:avLst/>
          </a:prstGeom>
          <a:ln w="6350">
            <a:solidFill>
              <a:srgbClr val="E8E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164592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DELIVERABLES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999232" y="265176"/>
            <a:ext cx="320040" cy="0"/>
          </a:xfrm>
          <a:prstGeom prst="line">
            <a:avLst/>
          </a:prstGeom>
          <a:ln w="7620">
            <a:solidFill>
              <a:srgbClr val="E8E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401568" y="164592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THEME 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8767" y="164592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4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ACT IV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510528"/>
            <a:ext cx="6217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1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SHIPPING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07247" y="6510528"/>
            <a:ext cx="2926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1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07 / 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9144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OUTPUTS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170432"/>
            <a:ext cx="6400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30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这套新主题已经覆盖的交付件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792224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不只是 core trio。简历、作品集和中英 deck 也同步切到 Guizang 的 editorial 语法，避免同一 skill 内部风格断层。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2761488"/>
            <a:ext cx="10241280" cy="0"/>
          </a:xfrm>
          <a:prstGeom prst="line">
            <a:avLst/>
          </a:prstGeom>
          <a:ln w="8890">
            <a:solidFill>
              <a:srgbClr val="E8E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2871216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One-Pager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2862072"/>
            <a:ext cx="6766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hero headline + stat spread + editorial blocks + callout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93808" y="2871216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9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HTML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3200400"/>
            <a:ext cx="10241280" cy="0"/>
          </a:xfrm>
          <a:prstGeom prst="line">
            <a:avLst/>
          </a:prstGeom>
          <a:ln w="8890">
            <a:solidFill>
              <a:srgbClr val="E8E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3310128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Long Doc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2928" y="3300984"/>
            <a:ext cx="6766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cover / overview / problem / method / conclusion / appendix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93808" y="3310128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9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PDF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3639312"/>
            <a:ext cx="10241280" cy="0"/>
          </a:xfrm>
          <a:prstGeom prst="line">
            <a:avLst/>
          </a:prstGeom>
          <a:ln w="8890">
            <a:solidFill>
              <a:srgbClr val="E8E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374904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Letter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52928" y="3739896"/>
            <a:ext cx="6766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subject block + correspondence body + evidence sidebar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93808" y="3749040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9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DOC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4078224"/>
            <a:ext cx="10241280" cy="0"/>
          </a:xfrm>
          <a:prstGeom prst="line">
            <a:avLst/>
          </a:prstGeom>
          <a:ln w="8890">
            <a:solidFill>
              <a:srgbClr val="E8E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58368" y="4187952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Resume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52928" y="4178808"/>
            <a:ext cx="6766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identity hero + metrics + timeline + open source spread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93808" y="4187952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9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CV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58368" y="4517136"/>
            <a:ext cx="10241280" cy="0"/>
          </a:xfrm>
          <a:prstGeom prst="line">
            <a:avLst/>
          </a:prstGeom>
          <a:ln w="8890">
            <a:solidFill>
              <a:srgbClr val="E8E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" y="4626864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Portfolio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52928" y="4617720"/>
            <a:ext cx="6766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editorial cover + case spreads + selected works + contact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93808" y="4626864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9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BOOK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06640" y="5047488"/>
            <a:ext cx="3611880" cy="1353312"/>
          </a:xfrm>
          <a:prstGeom prst="rect">
            <a:avLst/>
          </a:prstGeom>
          <a:solidFill>
            <a:srgbClr val="14100F"/>
          </a:solidFill>
          <a:ln w="889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0" y="5321808"/>
            <a:ext cx="3063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DEMO BUNDLE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5468112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6473952"/>
            <a:ext cx="3611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9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HTML / PDF / PPTX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58368" y="530352"/>
            <a:ext cx="10874959" cy="0"/>
          </a:xfrm>
          <a:prstGeom prst="line">
            <a:avLst/>
          </a:prstGeom>
          <a:ln w="12700">
            <a:solidFill>
              <a:srgbClr val="F1EF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58368" y="6364224"/>
            <a:ext cx="10874959" cy="0"/>
          </a:xfrm>
          <a:prstGeom prst="line">
            <a:avLst/>
          </a:prstGeom>
          <a:ln w="6350">
            <a:solidFill>
              <a:srgbClr val="E8E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164592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END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999232" y="265176"/>
            <a:ext cx="320040" cy="0"/>
          </a:xfrm>
          <a:prstGeom prst="line">
            <a:avLst/>
          </a:prstGeom>
          <a:ln w="7620">
            <a:solidFill>
              <a:srgbClr val="E8E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401568" y="164592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SYSTEM COMPLETE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8767" y="164592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4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ACT 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510528"/>
            <a:ext cx="6217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1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GUIZANG MAGAZINE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07247" y="6510528"/>
            <a:ext cx="2926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1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08 / 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298448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FINAL 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645920"/>
            <a:ext cx="65836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40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主题是系统，
不是换色版。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55264"/>
            <a:ext cx="6035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8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真正的新主题，必须在 HTML、PDF、PPTX 和 demo 里都能一眼认出来，而不是只有 palette 不一样。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4754880"/>
            <a:ext cx="9875520" cy="0"/>
          </a:xfrm>
          <a:prstGeom prst="line">
            <a:avLst/>
          </a:prstGeom>
          <a:ln w="12700">
            <a:solidFill>
              <a:srgbClr val="F1EF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14400" y="4919472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000" b="0" i="0">
                <a:solidFill>
                  <a:srgbClr val="F1EFEA"/>
                </a:solidFill>
                <a:latin typeface="TsangerJinKai02"/>
                <a:ea typeface="TsangerJinKai02"/>
                <a:cs typeface="TsangerJinKai02"/>
              </a:rPr>
              <a:t>如果结果还像旧主题，那就说明它还没有被重做。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60720"/>
            <a:ext cx="9875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 i="0">
                <a:solidFill>
                  <a:srgbClr val="E8E5DE"/>
                </a:solidFill>
                <a:latin typeface="TsangerJinKai02"/>
                <a:ea typeface="TsangerJinKai02"/>
                <a:cs typeface="TsangerJinKai02"/>
              </a:rPr>
              <a:t>AGENTS RULE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TsangerJinKai02"/>
        <a:ea typeface="TsangerJinKai02"/>
        <a:cs typeface="TsangerJinKai02"/>
        <a:font script="Jpan" typeface="TsangerJinKai02"/>
        <a:font script="Hang" typeface="TsangerJinKai02"/>
        <a:font script="Hans" typeface="TsangerJinKai02"/>
        <a:font script="Hant" typeface="TsangerJinKai02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sangerJinKai02"/>
        <a:ea typeface="TsangerJinKai02"/>
        <a:cs typeface="TsangerJinKai02"/>
        <a:font script="Jpan" typeface="TsangerJinKai02"/>
        <a:font script="Hang" typeface="TsangerJinKai02"/>
        <a:font script="Hans" typeface="TsangerJinKai02"/>
        <a:font script="Hant" typeface="TsangerJinKai02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