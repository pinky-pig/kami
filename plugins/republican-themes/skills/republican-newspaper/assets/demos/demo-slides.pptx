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8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16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REPUBLICAN NEWSPAPER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01 / 08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2416" y="1097280"/>
            <a:ext cx="6400800" cy="256032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1216152"/>
            <a:ext cx="6163056" cy="2322576"/>
          </a:xfrm>
          <a:prstGeom prst="rect">
            <a:avLst/>
          </a:prstGeom>
          <a:solidFill>
            <a:srgbClr val="161411"/>
          </a:solidFill>
          <a:ln w="9525">
            <a:solidFill>
              <a:srgbClr val="F5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389888"/>
            <a:ext cx="5705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KAMI · 特刊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92224"/>
            <a:ext cx="5742432" cy="1508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3400" b="0">
                <a:solidFill>
                  <a:srgbClr val="F5EBD3"/>
                </a:solidFill>
                <a:latin typeface="KingHwa_OldSong"/>
                <a:ea typeface="京華老宋体"/>
                <a:cs typeface="KingHwa_OldSong"/>
              </a:rPr>
              <a:t>把 AI 文档
排成报纸号外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218688"/>
            <a:ext cx="57058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9DEC2"/>
                </a:solidFill>
                <a:latin typeface="Source Han Sans SC"/>
                <a:ea typeface="京華老宋体"/>
                <a:cs typeface="Source Han Sans SC"/>
              </a:rPr>
              <a:t>黑色铅字 / 旧报纸底 / 剪报框线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298448"/>
            <a:ext cx="315468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Just tell Claude what you need:
“帮我生成一份白皮书” / “生成一份项目方案” / “帮我写一份推荐信” / “做一套汇报 slides”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962656"/>
            <a:ext cx="1417320" cy="1078992"/>
          </a:xfrm>
          <a:prstGeom prst="rect">
            <a:avLst/>
          </a:prstGeom>
          <a:solidFill>
            <a:srgbClr val="F5EBD3"/>
          </a:solidFill>
          <a:ln w="1016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3108960"/>
            <a:ext cx="1088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3493008"/>
            <a:ext cx="10881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173"/>
                </a:solidFill>
                <a:latin typeface="Source Han Sans SC"/>
                <a:ea typeface="京華老宋体"/>
                <a:cs typeface="Source Han Sans SC"/>
              </a:rPr>
              <a:t>DEMO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2" y="3712464"/>
            <a:ext cx="1088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docs + slides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36608" y="2962656"/>
            <a:ext cx="1417320" cy="1078992"/>
          </a:xfrm>
          <a:prstGeom prst="rect">
            <a:avLst/>
          </a:prstGeom>
          <a:solidFill>
            <a:srgbClr val="F5EBD3"/>
          </a:solidFill>
          <a:ln w="1016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3108960"/>
            <a:ext cx="1088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493008"/>
            <a:ext cx="108813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173"/>
                </a:solidFill>
                <a:latin typeface="Source Han Sans SC"/>
                <a:ea typeface="京華老宋体"/>
                <a:cs typeface="Source Han Sans SC"/>
              </a:rPr>
              <a:t>VISUAL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712464"/>
            <a:ext cx="10881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black 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559612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2026.04 · KAMI FORK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8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16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02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01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生成原理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1614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好看的本质不是每次重新设计，而是把内容填进稳定模板。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02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" y="2258567"/>
            <a:ext cx="2304288" cy="2240280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2416" y="2258567"/>
            <a:ext cx="2304288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2350007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STEP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697479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路由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136391"/>
            <a:ext cx="1938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先判断语言与文档类型：one-pager、long-doc、letter、slides。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66744" y="2258567"/>
            <a:ext cx="2304288" cy="2240280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66744" y="2258567"/>
            <a:ext cx="2304288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31336" y="2350007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STEP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2697479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整理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3136391"/>
            <a:ext cx="1938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把 raw material 拆成事实、数字、判断和行动，而不是直接堆文字。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1072" y="2258567"/>
            <a:ext cx="2304288" cy="2240280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91072" y="2258567"/>
            <a:ext cx="2304288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2350007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STEP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2697479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填充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136391"/>
            <a:ext cx="1938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使用固定骨架承载内容，避免 AI 每次自由发挥版式。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2258567"/>
            <a:ext cx="2304288" cy="2240280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5400" y="2258567"/>
            <a:ext cx="2304288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9992" y="2350007"/>
            <a:ext cx="197510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STEP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697479"/>
            <a:ext cx="19385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校验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136391"/>
            <a:ext cx="1938528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构建脚本检查页数、字体、占位符与 CSS 约束。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519379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固定版式 + design token + 字体层级 + 构建校验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8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16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DESIGN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03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02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民国报纸视觉语言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1614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不做复古海报，不做彩色杂志，只把专业文档整理成可信的报纸特刊。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03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350008"/>
            <a:ext cx="2011680" cy="1051560"/>
          </a:xfrm>
          <a:prstGeom prst="rect">
            <a:avLst/>
          </a:prstGeom>
          <a:solidFill>
            <a:srgbClr val="161411"/>
          </a:solidFill>
          <a:ln w="6350">
            <a:solidFill>
              <a:srgbClr val="F5E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844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BLACK 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587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#161411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报头 / 框线 / 反白条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350008"/>
            <a:ext cx="2011680" cy="1051560"/>
          </a:xfrm>
          <a:prstGeom prst="rect">
            <a:avLst/>
          </a:prstGeom>
          <a:solidFill>
            <a:srgbClr val="E8DFC9"/>
          </a:solidFill>
          <a:ln w="635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5844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NEWSPRINT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587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#E8DFC9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605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正文纸面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350008"/>
            <a:ext cx="2011680" cy="1051560"/>
          </a:xfrm>
          <a:prstGeom prst="rect">
            <a:avLst/>
          </a:prstGeom>
          <a:solidFill>
            <a:srgbClr val="F5EBD3"/>
          </a:solidFill>
          <a:ln w="635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5844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CLIPPING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587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#F5EBD3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1605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剪报块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2350008"/>
            <a:ext cx="2011680" cy="1051560"/>
          </a:xfrm>
          <a:prstGeom prst="rect">
            <a:avLst/>
          </a:prstGeom>
          <a:solidFill>
            <a:srgbClr val="B9AA91"/>
          </a:solidFill>
          <a:ln w="635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58444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WARM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8587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#B9AA91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1605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细线和分隔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81328" y="5001768"/>
            <a:ext cx="9601200" cy="804672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64208" y="5221224"/>
            <a:ext cx="9235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装饰边界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5660136"/>
            <a:ext cx="9235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只允许报头、日期线、反白栏目条、剪报框和一枚红印；不加入现代渐变和彩色杂志图。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8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16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04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03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现在能生成什么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1614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中文 v1 的正式能力聚焦三类高频文档，简历和作品集已保留为补充样例。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04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" y="2240279"/>
            <a:ext cx="3072384" cy="1115568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9848" y="2240279"/>
            <a:ext cx="3072384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331719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1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2679191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One-Pager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118103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公司介绍、项目方案、执行摘要。重点是 30 秒抓住核心。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44568" y="2240279"/>
            <a:ext cx="3072384" cy="1115568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44568" y="2240279"/>
            <a:ext cx="3072384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331719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MULTI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2679191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Long Doc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118103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白皮书、长文报告、年度总结。强调章节结构与证据链。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19288" y="2240279"/>
            <a:ext cx="3072384" cy="1115568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9288" y="2240279"/>
            <a:ext cx="3072384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331719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1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2679191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Letter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3118103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正式信件、推荐信、推荐函。关系、证据、匹配、推荐。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9848" y="3721607"/>
            <a:ext cx="3072384" cy="1115568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9848" y="3721607"/>
            <a:ext cx="3072384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3813047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2728" y="4160519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Resume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4599431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固定坐标版简历样例，适合验证黑框报纸式布局。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44568" y="3721607"/>
            <a:ext cx="3072384" cy="1115568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44568" y="3721607"/>
            <a:ext cx="3072384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3813047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4160519"/>
            <a:ext cx="27066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7448" y="4599431"/>
            <a:ext cx="27066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作品集样例，保留更多视觉叙事与项目卡片。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8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16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NATURAL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05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04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不用 slash command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1614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用户只要说任务，skill 根据意图选择模板。输出是文档，不是聊天里的格式建议。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05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2212848"/>
            <a:ext cx="7955279" cy="438912"/>
          </a:xfrm>
          <a:prstGeom prst="rect">
            <a:avLst/>
          </a:prstGeom>
          <a:solidFill>
            <a:srgbClr val="F5EBD3"/>
          </a:solidFill>
          <a:ln w="5715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234086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“帮我生成一份白皮书”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9288" y="235000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61411"/>
                </a:solidFill>
                <a:latin typeface="JetBrains Mono"/>
                <a:ea typeface="京華老宋体"/>
                <a:cs typeface="JetBrains Mono"/>
              </a:rPr>
              <a:t>LONG-DOC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8" y="2871216"/>
            <a:ext cx="7955279" cy="438912"/>
          </a:xfrm>
          <a:prstGeom prst="rect">
            <a:avLst/>
          </a:prstGeom>
          <a:solidFill>
            <a:srgbClr val="F5EBD3"/>
          </a:solidFill>
          <a:ln w="5715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7048" y="299923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“生成一份项目方案”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00837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61411"/>
                </a:solidFill>
                <a:latin typeface="JetBrains Mono"/>
                <a:ea typeface="京華老宋体"/>
                <a:cs typeface="JetBrains Mono"/>
              </a:rPr>
              <a:t>ONE-PAGER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3529584"/>
            <a:ext cx="7955279" cy="438912"/>
          </a:xfrm>
          <a:prstGeom prst="rect">
            <a:avLst/>
          </a:prstGeom>
          <a:solidFill>
            <a:srgbClr val="F5EBD3"/>
          </a:solidFill>
          <a:ln w="5715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27048" y="3657600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“帮我写一份推荐信”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3666744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61411"/>
                </a:solidFill>
                <a:latin typeface="JetBrains Mono"/>
                <a:ea typeface="京華老宋体"/>
                <a:cs typeface="JetBrains Mono"/>
              </a:rPr>
              <a:t>LETTER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8448" y="4187952"/>
            <a:ext cx="7955279" cy="438912"/>
          </a:xfrm>
          <a:prstGeom prst="rect">
            <a:avLst/>
          </a:prstGeom>
          <a:solidFill>
            <a:srgbClr val="F5EBD3"/>
          </a:solidFill>
          <a:ln w="5715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4315968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“帮我把这些内容排版成好看的 PDF”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432511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61411"/>
                </a:solidFill>
                <a:latin typeface="JetBrains Mono"/>
                <a:ea typeface="京華老宋体"/>
                <a:cs typeface="JetBrains Mono"/>
              </a:rPr>
              <a:t>INFER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98448" y="4846320"/>
            <a:ext cx="7955279" cy="438912"/>
          </a:xfrm>
          <a:prstGeom prst="rect">
            <a:avLst/>
          </a:prstGeom>
          <a:solidFill>
            <a:srgbClr val="F5EBD3"/>
          </a:solidFill>
          <a:ln w="5715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27048" y="497433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“做一套汇报 slides”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4983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161411"/>
                </a:solidFill>
                <a:latin typeface="JetBrains Mono"/>
                <a:ea typeface="京華老宋体"/>
                <a:cs typeface="JetBrains Mono"/>
              </a:rPr>
              <a:t>SLIDES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7776" y="2212848"/>
            <a:ext cx="1280160" cy="3090672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74936" y="3108960"/>
            <a:ext cx="1005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5EBD3"/>
                </a:solidFill>
                <a:latin typeface="JetBrains Mono"/>
                <a:ea typeface="京華老宋体"/>
                <a:cs typeface="JetBrains Mono"/>
              </a:rPr>
              <a:t>AUTO
TRIGGER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8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16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LAYOUT RHYTHM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06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05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排版骨架不变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1614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我们换的是时代气质，不是阅读效率。信息密度、留白与页数约束仍然可控。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06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2286000"/>
            <a:ext cx="2011680" cy="1078992"/>
          </a:xfrm>
          <a:prstGeom prst="rect">
            <a:avLst/>
          </a:prstGeom>
          <a:solidFill>
            <a:srgbClr val="F5EBD3"/>
          </a:solidFill>
          <a:ln w="1016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2432304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16352"/>
            <a:ext cx="1682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173"/>
                </a:solidFill>
                <a:latin typeface="Source Han Sans SC"/>
                <a:ea typeface="京華老宋体"/>
                <a:cs typeface="Source Han Sans SC"/>
              </a:rPr>
              <a:t>ONE-PAGER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35808"/>
            <a:ext cx="1682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严格单页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286000"/>
            <a:ext cx="2011680" cy="1078992"/>
          </a:xfrm>
          <a:prstGeom prst="rect">
            <a:avLst/>
          </a:prstGeom>
          <a:solidFill>
            <a:srgbClr val="F5EBD3"/>
          </a:solidFill>
          <a:ln w="1016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30752" y="2432304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816352"/>
            <a:ext cx="1682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173"/>
                </a:solidFill>
                <a:latin typeface="Source Han Sans SC"/>
                <a:ea typeface="京華老宋体"/>
                <a:cs typeface="Source Han Sans SC"/>
              </a:rPr>
              <a:t>LETTER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3035808"/>
            <a:ext cx="1682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严格单页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9592" y="2286000"/>
            <a:ext cx="2011680" cy="1078992"/>
          </a:xfrm>
          <a:prstGeom prst="rect">
            <a:avLst/>
          </a:prstGeom>
          <a:solidFill>
            <a:srgbClr val="F5EBD3"/>
          </a:solidFill>
          <a:ln w="1016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44184" y="2432304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4184" y="2816352"/>
            <a:ext cx="1682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173"/>
                </a:solidFill>
                <a:latin typeface="Source Han Sans SC"/>
                <a:ea typeface="京華老宋体"/>
                <a:cs typeface="Source Han Sans SC"/>
              </a:rPr>
              <a:t>DEMO LONG-DOC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4184" y="3035808"/>
            <a:ext cx="1682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章节展开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3" y="2286000"/>
            <a:ext cx="2011680" cy="1078992"/>
          </a:xfrm>
          <a:prstGeom prst="rect">
            <a:avLst/>
          </a:prstGeom>
          <a:solidFill>
            <a:srgbClr val="F5EBD3"/>
          </a:solidFill>
          <a:ln w="10160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5" y="2432304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500+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2816352"/>
            <a:ext cx="1682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173"/>
                </a:solidFill>
                <a:latin typeface="Source Han Sans SC"/>
                <a:ea typeface="京華老宋体"/>
                <a:cs typeface="Source Han Sans SC"/>
              </a:rPr>
              <a:t>CHECK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035808"/>
            <a:ext cx="1682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字体 / CSS / 占位符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27024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旧纸底不是装饰图，而是稳定色块。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题签和细线负责时代感，正文仍按专业文档阅读。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配置 serif 字体用于报纸气质，功能文字保持清晰。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8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16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07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914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06 · 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22529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交付链路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1801368"/>
            <a:ext cx="3840480" cy="0"/>
          </a:xfrm>
          <a:prstGeom prst="line">
            <a:avLst/>
          </a:prstGeom>
          <a:ln w="9525">
            <a:solidFill>
              <a:srgbClr val="1614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84848" y="1207008"/>
            <a:ext cx="43891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生成不止是写文件，还要让 PDF/PPTX 和预览资产都能被检查。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07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008" y="2852928"/>
            <a:ext cx="2148840" cy="1170432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7008" y="2852928"/>
            <a:ext cx="2148840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944368"/>
            <a:ext cx="18196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29184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HTML / 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73075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内容进入固定模板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47288" y="3438144"/>
            <a:ext cx="292608" cy="0"/>
          </a:xfrm>
          <a:prstGeom prst="line">
            <a:avLst/>
          </a:prstGeom>
          <a:ln w="12700">
            <a:solidFill>
              <a:srgbClr val="4B4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822192" y="2852928"/>
            <a:ext cx="2148840" cy="1170432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22192" y="2852928"/>
            <a:ext cx="2148840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6784" y="2944368"/>
            <a:ext cx="18196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329184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373075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生成交付文件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62472" y="3438144"/>
            <a:ext cx="292608" cy="0"/>
          </a:xfrm>
          <a:prstGeom prst="line">
            <a:avLst/>
          </a:prstGeom>
          <a:ln w="12700">
            <a:solidFill>
              <a:srgbClr val="4B4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37376" y="2852928"/>
            <a:ext cx="2148840" cy="1170432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37376" y="2852928"/>
            <a:ext cx="2148840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944368"/>
            <a:ext cx="18196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329184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373075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检查页数、字体、占位符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77656" y="3438144"/>
            <a:ext cx="292608" cy="0"/>
          </a:xfrm>
          <a:prstGeom prst="line">
            <a:avLst/>
          </a:prstGeom>
          <a:ln w="12700">
            <a:solidFill>
              <a:srgbClr val="4B40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052560" y="2852928"/>
            <a:ext cx="2148840" cy="1170432"/>
          </a:xfrm>
          <a:prstGeom prst="rect">
            <a:avLst/>
          </a:prstGeom>
          <a:solidFill>
            <a:srgbClr val="F5EBD3"/>
          </a:solidFill>
          <a:ln w="8890">
            <a:solidFill>
              <a:srgbClr val="B9AA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2852928"/>
            <a:ext cx="2148840" cy="310896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17152" y="2944368"/>
            <a:ext cx="18196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E9DEC2"/>
                </a:solidFill>
                <a:latin typeface="JetBrains Mono"/>
                <a:ea typeface="京華老宋体"/>
                <a:cs typeface="JetBrains Mono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291840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F1B16"/>
                </a:solidFill>
                <a:latin typeface="KingHwa_OldSong"/>
                <a:ea typeface="京華老宋体"/>
                <a:cs typeface="KingHwa_OldSong"/>
              </a:rPr>
              <a:t>Preview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730752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E382E"/>
                </a:solidFill>
                <a:latin typeface="Source Han Sans SC"/>
                <a:ea typeface="京華老宋体"/>
                <a:cs typeface="Source Han Sans SC"/>
              </a:rPr>
              <a:t>导出 demo 预览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5138928"/>
            <a:ext cx="8961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161411"/>
                </a:solidFill>
                <a:latin typeface="JetBrains Mono"/>
                <a:ea typeface="京華老宋体"/>
                <a:cs typeface="JetBrains Mono"/>
              </a:rPr>
              <a:t>.venv/bin/python scripts/build.py --verify one-pager
.venv/bin/python scripts/build.py --check
.venv/bin/python scripts/build.py slides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F8F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1423599" cy="60899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2700">
            <a:solidFill>
              <a:srgbClr val="1614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9224" y="649224"/>
            <a:ext cx="10893247" cy="5559552"/>
          </a:xfrm>
          <a:prstGeom prst="rect">
            <a:avLst/>
          </a:prstGeom>
          <a:noFill/>
          <a:ln w="5715">
            <a:solidFill>
              <a:srgbClr val="4B40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12648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08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578608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0">
                <a:solidFill>
                  <a:srgbClr val="161411"/>
                </a:solidFill>
                <a:latin typeface="KingHwa_OldSong"/>
                <a:ea typeface="京華老宋体"/>
                <a:cs typeface="KingHwa_OldSong"/>
              </a:rPr>
              <a:t>好看的本质是稳定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04688" y="3584448"/>
            <a:ext cx="1097280" cy="0"/>
          </a:xfrm>
          <a:prstGeom prst="line">
            <a:avLst/>
          </a:prstGeom>
          <a:ln w="16510">
            <a:solidFill>
              <a:srgbClr val="1614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98448" y="399592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6A6257"/>
                </a:solidFill>
                <a:latin typeface="Source Han Sans SC"/>
                <a:ea typeface="京華老宋体"/>
                <a:cs typeface="Source Han Sans SC"/>
              </a:rPr>
              <a:t>固定版式 · design token · 字体层级 · 构建校验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536752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8A8173"/>
                </a:solidFill>
                <a:latin typeface="JetBrains Mono"/>
                <a:ea typeface="京華老宋体"/>
                <a:cs typeface="JetBrains Mono"/>
              </a:rPr>
              <a:t>KAMI · REPUBLICAN NEWSPAPER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京華老宋体"/>
        <a:cs typeface=""/>
        <a:font script="Jpan" typeface="ＭＳ Ｐゴシック"/>
        <a:font script="Hang" typeface="맑은 고딕"/>
        <a:font script="Hans" typeface="京華老宋体"/>
        <a:font script="Hant" typeface="京華老宋体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京華老宋体"/>
        <a:cs typeface=""/>
        <a:font script="Jpan" typeface="ＭＳ Ｐゴシック"/>
        <a:font script="Hang" typeface="맑은 고딕"/>
        <a:font script="Hans" typeface="京華老宋体"/>
        <a:font script="Hant" typeface="京華老宋体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