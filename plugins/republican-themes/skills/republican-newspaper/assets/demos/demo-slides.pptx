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D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0896" y="237744"/>
            <a:ext cx="11569903" cy="6382512"/>
          </a:xfrm>
          <a:prstGeom prst="rect">
            <a:avLst/>
          </a:prstGeom>
          <a:noFill/>
          <a:ln w="14604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" y="347472"/>
            <a:ext cx="11350447" cy="6163056"/>
          </a:xfrm>
          <a:prstGeom prst="rect">
            <a:avLst/>
          </a:prstGeom>
          <a:noFill/>
          <a:ln w="6350">
            <a:solidFill>
              <a:srgbClr val="4B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438912"/>
            <a:ext cx="11167567" cy="5980176"/>
          </a:xfrm>
          <a:prstGeom prst="rect">
            <a:avLst/>
          </a:prstGeom>
          <a:noFill/>
          <a:ln w="508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309360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FRONT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0639" y="6309360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01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"/>
            <a:ext cx="795527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项目号外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950976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旧报纸底 / 黑色铅字 / 竖排题名 / 剪报拼版</a:t>
            </a:r>
          </a:p>
        </p:txBody>
      </p:sp>
      <p:sp>
        <p:nvSpPr>
          <p:cNvPr id="11" name="Oval 10"/>
          <p:cNvSpPr/>
          <p:nvPr/>
        </p:nvSpPr>
        <p:spPr>
          <a:xfrm>
            <a:off x="10308031" y="475488"/>
            <a:ext cx="1170432" cy="1170432"/>
          </a:xfrm>
          <a:prstGeom prst="ellipse">
            <a:avLst/>
          </a:prstGeom>
          <a:noFill/>
          <a:ln w="12700">
            <a:solidFill>
              <a:srgbClr val="B73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90327" y="557784"/>
            <a:ext cx="1005840" cy="1005840"/>
          </a:xfrm>
          <a:prstGeom prst="ellipse">
            <a:avLst/>
          </a:prstGeom>
          <a:noFill/>
          <a:ln w="5715">
            <a:solidFill>
              <a:srgbClr val="B73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81183" y="704088"/>
            <a:ext cx="10241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B7352A"/>
                </a:solidFill>
                <a:latin typeface="KingHwa_OldSong"/>
                <a:ea typeface="京華老宋体"/>
                <a:cs typeface="KingHwa_OldSong"/>
              </a:rPr>
              <a:t>号外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99471" y="1335024"/>
            <a:ext cx="9875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" b="0">
                <a:solidFill>
                  <a:srgbClr val="B7352A"/>
                </a:solidFill>
                <a:latin typeface="Source Han Sans SC"/>
                <a:ea typeface="京華老宋体"/>
                <a:cs typeface="Source Han Sans SC"/>
              </a:rPr>
              <a:t>KAMI 2026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1225296"/>
            <a:ext cx="10911535" cy="0"/>
          </a:xfrm>
          <a:prstGeom prst="line">
            <a:avLst/>
          </a:prstGeom>
          <a:ln w="15240">
            <a:solidFill>
              <a:srgbClr val="1614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131673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上海 · 2026.04.28 · 编辑部特刊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0319" y="1316736"/>
            <a:ext cx="3474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内部演示材料 · 第 01 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1664208"/>
            <a:ext cx="749808" cy="4425696"/>
          </a:xfrm>
          <a:prstGeom prst="rect">
            <a:avLst/>
          </a:prstGeom>
          <a:solidFill>
            <a:srgbClr val="F5EBD3"/>
          </a:solidFill>
          <a:ln w="1079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1773936"/>
            <a:ext cx="640080" cy="219456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1824228"/>
            <a:ext cx="4937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F8F1DD"/>
                </a:solidFill>
                <a:latin typeface="Source Han Sans SC"/>
                <a:ea typeface="京華老宋体"/>
                <a:cs typeface="Source Han Sans SC"/>
              </a:rPr>
              <a:t>头版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176272"/>
            <a:ext cx="3291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20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报
纸
号
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864608"/>
            <a:ext cx="25603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二
〇
二
六
四
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18488" y="1700784"/>
            <a:ext cx="5989320" cy="0"/>
          </a:xfrm>
          <a:prstGeom prst="line">
            <a:avLst/>
          </a:prstGeom>
          <a:ln w="10795">
            <a:solidFill>
              <a:srgbClr val="1614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618488" y="1810512"/>
            <a:ext cx="1298448" cy="219456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91640" y="1860804"/>
            <a:ext cx="11521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F8F1DD"/>
                </a:solidFill>
                <a:latin typeface="Source Han Sans SC"/>
                <a:ea typeface="京華老宋体"/>
                <a:cs typeface="Source Han Sans SC"/>
              </a:rPr>
              <a:t>头条 / 编辑按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" y="2139696"/>
            <a:ext cx="5989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2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不是换色，而是换成报纸自己的版面逻辑。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2889504"/>
            <a:ext cx="59893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这次修订的目标，不是把 republican-manuscript 的 PPT 换成旧纸色，而是把 slides 的布局系统彻底切到 republican-newspaper 自己的报纸语法。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3474720"/>
            <a:ext cx="281635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PPTX 现在直接使用报头、日期线、竖排题名、跨栏 lead、剪报侧栏、灰度图片区和红印规则。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53712" y="3456432"/>
            <a:ext cx="0" cy="1225296"/>
          </a:xfrm>
          <a:prstGeom prst="line">
            <a:avLst/>
          </a:prstGeom>
          <a:ln w="6350">
            <a:solidFill>
              <a:srgbClr val="B9AA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90872" y="3474720"/>
            <a:ext cx="281635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Slidev 也不再沿用 manuscript 的牌匾封面、双线内框和居中卡片，而是用同一份报纸 schema 渲染成头版、特刊页、通信页和编辑台页。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618488" y="4828032"/>
            <a:ext cx="5989320" cy="0"/>
          </a:xfrm>
          <a:prstGeom prst="line">
            <a:avLst/>
          </a:prstGeom>
          <a:ln w="6350">
            <a:solidFill>
              <a:srgbClr val="B9AA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618488" y="4992624"/>
            <a:ext cx="2176272" cy="1005840"/>
          </a:xfrm>
          <a:prstGeom prst="rect">
            <a:avLst/>
          </a:prstGeom>
          <a:solidFill>
            <a:srgbClr val="DED4BD"/>
          </a:solidFill>
          <a:ln w="889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1581912" y="5120640"/>
            <a:ext cx="2029968" cy="310896"/>
          </a:xfrm>
          <a:prstGeom prst="line">
            <a:avLst/>
          </a:prstGeom>
          <a:ln w="7620">
            <a:solidFill>
              <a:srgbClr val="4B403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374136" y="4937760"/>
            <a:ext cx="384048" cy="969264"/>
          </a:xfrm>
          <a:prstGeom prst="line">
            <a:avLst/>
          </a:prstGeom>
          <a:ln w="7620">
            <a:solidFill>
              <a:srgbClr val="4B403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977640" y="5047488"/>
            <a:ext cx="352044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灰度图片区可用于人物照、地图、票据、剪报证据；它是新闻证据位，不是现代 hero 图。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1664208"/>
            <a:ext cx="3182112" cy="1170432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91856" y="1801368"/>
            <a:ext cx="2926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版面变化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91856" y="200253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报头先行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91856" y="2350008"/>
            <a:ext cx="292608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先立版名、issue mark 和 dateline，再展开正文。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2980944"/>
            <a:ext cx="3182112" cy="1170432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91856" y="3118104"/>
            <a:ext cx="2926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组件变化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331927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Lead + Sidebars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91856" y="3666744"/>
            <a:ext cx="292608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主文跨栏，数字、步骤和判断进入 clipping。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63840" y="4297680"/>
            <a:ext cx="3182112" cy="1444752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6" y="4434840"/>
            <a:ext cx="2926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红印规则</a:t>
            </a:r>
          </a:p>
        </p:txBody>
      </p:sp>
      <p:sp>
        <p:nvSpPr>
          <p:cNvPr id="46" name="Oval 45"/>
          <p:cNvSpPr/>
          <p:nvPr/>
        </p:nvSpPr>
        <p:spPr>
          <a:xfrm>
            <a:off x="7991856" y="4636008"/>
            <a:ext cx="502920" cy="502920"/>
          </a:xfrm>
          <a:prstGeom prst="ellipse">
            <a:avLst/>
          </a:prstGeom>
          <a:noFill/>
          <a:ln w="12700">
            <a:solidFill>
              <a:srgbClr val="B73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19288" y="4791456"/>
            <a:ext cx="4480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9" b="0">
                <a:solidFill>
                  <a:srgbClr val="B7352A"/>
                </a:solidFill>
                <a:latin typeface="KingHwa_OldSong"/>
                <a:ea typeface="京華老宋体"/>
                <a:cs typeface="KingHwa_OldSong"/>
              </a:rPr>
              <a:t>红印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13648" y="4654296"/>
            <a:ext cx="2304288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6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整页只保留一处主红印，强调仍以黑底反白条为主。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D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0896" y="237744"/>
            <a:ext cx="11569903" cy="6382512"/>
          </a:xfrm>
          <a:prstGeom prst="rect">
            <a:avLst/>
          </a:prstGeom>
          <a:noFill/>
          <a:ln w="14604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" y="347472"/>
            <a:ext cx="11350447" cy="6163056"/>
          </a:xfrm>
          <a:prstGeom prst="rect">
            <a:avLst/>
          </a:prstGeom>
          <a:noFill/>
          <a:ln w="6350">
            <a:solidFill>
              <a:srgbClr val="4B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438912"/>
            <a:ext cx="11167567" cy="5980176"/>
          </a:xfrm>
          <a:prstGeom prst="rect">
            <a:avLst/>
          </a:prstGeom>
          <a:noFill/>
          <a:ln w="508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309360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CLIPPING 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0639" y="6309360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02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621792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组件来自报纸模板，不来自 manuscript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3136" y="676656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one-pager、long-doc、letter 的组件各有位置：masthead、reverse label、vertical rail、clipping、timeline、action list。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1444752"/>
            <a:ext cx="2414016" cy="1353312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81912"/>
            <a:ext cx="21579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COMP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Masthead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130552"/>
            <a:ext cx="215798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报头先定义期刊身份，再定义正文层级。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4992" y="1444752"/>
            <a:ext cx="2414016" cy="1353312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581912"/>
            <a:ext cx="21579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COMP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83080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Vertical Rail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130552"/>
            <a:ext cx="215798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竖排题名和日期栏只做边栏，不把整段正文竖排。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444752"/>
            <a:ext cx="2414016" cy="1353312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1581912"/>
            <a:ext cx="21579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COMP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1783080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Clipping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3056" y="2130552"/>
            <a:ext cx="215798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事实、数据、步骤和引用都进入剪报框。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05088" y="1444752"/>
            <a:ext cx="2414016" cy="1353312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33104" y="1581912"/>
            <a:ext cx="21579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COMP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3104" y="1783080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Action 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3104" y="2130552"/>
            <a:ext cx="215798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页尾用时间线、行动框和 footer 收束阅读。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" y="3072384"/>
            <a:ext cx="1993392" cy="713232"/>
          </a:xfrm>
          <a:prstGeom prst="rect">
            <a:avLst/>
          </a:prstGeom>
          <a:solidFill>
            <a:srgbClr val="F8F1DD"/>
          </a:solidFill>
          <a:ln w="635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3163824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2-3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383280"/>
            <a:ext cx="18105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正文栏数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3529584"/>
            <a:ext cx="18105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one-pager / special issue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62656" y="3072384"/>
            <a:ext cx="1993392" cy="713232"/>
          </a:xfrm>
          <a:prstGeom prst="rect">
            <a:avLst/>
          </a:prstGeom>
          <a:solidFill>
            <a:srgbClr val="F8F1DD"/>
          </a:solidFill>
          <a:ln w="635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54096" y="3163824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4096" y="3383280"/>
            <a:ext cx="18105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主红印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6" y="3529584"/>
            <a:ext cx="18105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每页最多一处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30368" y="3072384"/>
            <a:ext cx="1993392" cy="713232"/>
          </a:xfrm>
          <a:prstGeom prst="rect">
            <a:avLst/>
          </a:prstGeom>
          <a:solidFill>
            <a:srgbClr val="F8F1DD"/>
          </a:solidFill>
          <a:ln w="635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21808" y="3163824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808" y="3383280"/>
            <a:ext cx="18105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圆角依赖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21808" y="3529584"/>
            <a:ext cx="18105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默认保持直角裁切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94944" y="4224528"/>
            <a:ext cx="1874519" cy="0"/>
          </a:xfrm>
          <a:prstGeom prst="line">
            <a:avLst/>
          </a:prstGeom>
          <a:ln w="10160">
            <a:solidFill>
              <a:srgbClr val="1614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94944" y="3941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报头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" y="4334256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版名、期号、日期线先出现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35224" y="4224528"/>
            <a:ext cx="1874519" cy="0"/>
          </a:xfrm>
          <a:prstGeom prst="line">
            <a:avLst/>
          </a:prstGeom>
          <a:ln w="10160">
            <a:solidFill>
              <a:srgbClr val="1614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35224" y="3941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头条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35224" y="4334256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lead story 跨栏承担主判断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175504" y="4224528"/>
            <a:ext cx="1874519" cy="0"/>
          </a:xfrm>
          <a:prstGeom prst="line">
            <a:avLst/>
          </a:prstGeom>
          <a:ln w="10160">
            <a:solidFill>
              <a:srgbClr val="1614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175504" y="3941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剪报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75504" y="4334256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事实与行动进入 clipping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26096" y="3054096"/>
            <a:ext cx="3218688" cy="1865376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54112" y="3191256"/>
            <a:ext cx="29626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编辑规则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54112" y="3392424"/>
            <a:ext cx="2962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编辑动作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54112" y="3739896"/>
            <a:ext cx="296265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如果信息太多，先加栏、加边栏、加 rule；不要回退到 manuscript 的中轴牌匾和均分卡片。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D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0896" y="237744"/>
            <a:ext cx="11569903" cy="6382512"/>
          </a:xfrm>
          <a:prstGeom prst="rect">
            <a:avLst/>
          </a:prstGeom>
          <a:noFill/>
          <a:ln w="14604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" y="347472"/>
            <a:ext cx="11350447" cy="6163056"/>
          </a:xfrm>
          <a:prstGeom prst="rect">
            <a:avLst/>
          </a:prstGeom>
          <a:noFill/>
          <a:ln w="6350">
            <a:solidFill>
              <a:srgbClr val="4B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438912"/>
            <a:ext cx="11167567" cy="5980176"/>
          </a:xfrm>
          <a:prstGeom prst="rect">
            <a:avLst/>
          </a:prstGeom>
          <a:noFill/>
          <a:ln w="508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309360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SPECIAL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0639" y="6309360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03 / 08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21792"/>
            <a:ext cx="2606040" cy="219456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672084"/>
            <a:ext cx="24597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F8F1DD"/>
                </a:solidFill>
                <a:latin typeface="Source Han Sans SC"/>
                <a:ea typeface="京華老宋体"/>
                <a:cs typeface="Source Han Sans SC"/>
              </a:rPr>
              <a:t>WHITE PAPER · INTERNAL EDITION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9039" y="6583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专题白皮书 / 深度报道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170432"/>
            <a:ext cx="6400800" cy="2066543"/>
          </a:xfrm>
          <a:prstGeom prst="rect">
            <a:avLst/>
          </a:prstGeom>
          <a:solidFill>
            <a:srgbClr val="161411"/>
          </a:solidFill>
          <a:ln w="1270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1298448"/>
            <a:ext cx="6144768" cy="1810512"/>
          </a:xfrm>
          <a:prstGeom prst="rect">
            <a:avLst/>
          </a:prstGeom>
          <a:noFill/>
          <a:ln w="8890">
            <a:solidFill>
              <a:srgbClr val="F8F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1563624"/>
            <a:ext cx="5440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800" b="0">
                <a:solidFill>
                  <a:srgbClr val="F8F1DD"/>
                </a:solidFill>
                <a:latin typeface="KingHwa_OldSong"/>
                <a:ea typeface="京華老宋体"/>
                <a:cs typeface="KingHwa_OldSong"/>
              </a:rPr>
              <a:t>长文像连续报道，
不是 deck 拉长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2450592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69" b="0">
                <a:solidFill>
                  <a:srgbClr val="F8F1DD"/>
                </a:solidFill>
                <a:latin typeface="Source Han Sans SC"/>
                <a:ea typeface="京華老宋体"/>
                <a:cs typeface="Source Han Sans SC"/>
              </a:rPr>
              <a:t>封面建立专题身份，目录用 toc items 收束，章页再切成 header band + 双栏文章。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0" y="1170432"/>
            <a:ext cx="1901952" cy="932688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3075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FILED UNDER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6096" y="1508760"/>
            <a:ext cx="164592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Research Desk
Product Desk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28048" y="1170432"/>
            <a:ext cx="1353312" cy="932688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6064" y="1307592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508760"/>
            <a:ext cx="109728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V1.1
2026.04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493008"/>
            <a:ext cx="6382512" cy="0"/>
          </a:xfrm>
          <a:prstGeom prst="line">
            <a:avLst/>
          </a:prstGeom>
          <a:ln w="10160">
            <a:solidFill>
              <a:srgbClr val="1614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639312"/>
            <a:ext cx="6309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长文的节奏来自报头题签、目录条目、引文框和 panel，不再借用 manuscript 的档案牌匾封面。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4" y="3639312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76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作者：Kami 编辑部
发布：Republican Themes
结构：封面 / 目录 / 章节 / 附录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4736592"/>
            <a:ext cx="2304288" cy="713232"/>
          </a:xfrm>
          <a:prstGeom prst="rect">
            <a:avLst/>
          </a:prstGeom>
          <a:solidFill>
            <a:srgbClr val="F8F1DD"/>
          </a:solidFill>
          <a:ln w="952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4736592"/>
            <a:ext cx="384048" cy="713232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901184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864608"/>
            <a:ext cx="1298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执行摘要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33472" y="490118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0" y="4736592"/>
            <a:ext cx="2304288" cy="713232"/>
          </a:xfrm>
          <a:prstGeom prst="rect">
            <a:avLst/>
          </a:prstGeom>
          <a:solidFill>
            <a:srgbClr val="F8F1DD"/>
          </a:solidFill>
          <a:ln w="952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91840" y="4736592"/>
            <a:ext cx="384048" cy="713232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91840" y="4901184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4864608"/>
            <a:ext cx="1298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背景与问题定义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90118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70448" y="4736592"/>
            <a:ext cx="2304288" cy="713232"/>
          </a:xfrm>
          <a:prstGeom prst="rect">
            <a:avLst/>
          </a:prstGeom>
          <a:solidFill>
            <a:srgbClr val="F8F1DD"/>
          </a:solidFill>
          <a:ln w="952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736592"/>
            <a:ext cx="384048" cy="713232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70448" y="4901184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864608"/>
            <a:ext cx="1298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方法与发现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90688" y="490118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49056" y="4736592"/>
            <a:ext cx="2304288" cy="713232"/>
          </a:xfrm>
          <a:prstGeom prst="rect">
            <a:avLst/>
          </a:prstGeom>
          <a:solidFill>
            <a:srgbClr val="F8F1DD"/>
          </a:solidFill>
          <a:ln w="952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9056" y="4736592"/>
            <a:ext cx="384048" cy="713232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49056" y="4901184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24544" y="4864608"/>
            <a:ext cx="1298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结论与建议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9296" y="490118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D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0896" y="237744"/>
            <a:ext cx="11569903" cy="6382512"/>
          </a:xfrm>
          <a:prstGeom prst="rect">
            <a:avLst/>
          </a:prstGeom>
          <a:noFill/>
          <a:ln w="14604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" y="347472"/>
            <a:ext cx="11350447" cy="6163056"/>
          </a:xfrm>
          <a:prstGeom prst="rect">
            <a:avLst/>
          </a:prstGeom>
          <a:noFill/>
          <a:ln w="6350">
            <a:solidFill>
              <a:srgbClr val="4B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438912"/>
            <a:ext cx="11167567" cy="5980176"/>
          </a:xfrm>
          <a:prstGeom prst="rect">
            <a:avLst/>
          </a:prstGeom>
          <a:noFill/>
          <a:ln w="508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309360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CHAPTER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0639" y="6309360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04 / 08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" y="1133856"/>
            <a:ext cx="10765231" cy="0"/>
          </a:xfrm>
          <a:prstGeom prst="line">
            <a:avLst/>
          </a:prstGeom>
          <a:ln w="11430">
            <a:solidFill>
              <a:srgbClr val="1614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3232" y="1225296"/>
            <a:ext cx="10765231" cy="0"/>
          </a:xfrm>
          <a:prstGeom prst="line">
            <a:avLst/>
          </a:prstGeom>
          <a:ln w="5715">
            <a:solidFill>
              <a:srgbClr val="4B403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658368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CHAPTER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3350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章页用双栏、边栏和引文推进阅读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6016" y="1298448"/>
            <a:ext cx="3977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69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章节页保留报刊 header band，再把正文放回双栏与 side panel。报纸感来自阅读组织，而不是做旧边框。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063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4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第一栏负责把背景、判断和上下文讲完整。行距可以比 manuscript 更密，但仍保持 1.42 以上，确保连续阅读不挤死。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77640" y="2048256"/>
            <a:ext cx="0" cy="2468880"/>
          </a:xfrm>
          <a:prstGeom prst="line">
            <a:avLst/>
          </a:prstGeom>
          <a:ln w="6350">
            <a:solidFill>
              <a:srgbClr val="B9AA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60520" y="2048256"/>
            <a:ext cx="3063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4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第二栏继续展开方法、证据和影响，把主题推进成连续报道，而不是每页只摆一句口号。必要时可插入小表格、引用框或 code clipping。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35823" y="2048256"/>
            <a:ext cx="3182112" cy="1463040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39" y="2185416"/>
            <a:ext cx="2926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SIDE PANEL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39" y="238658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边栏证据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39" y="2734056"/>
            <a:ext cx="2926080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把数字、结论和行动拉进 panel，让正文主线保持流动。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27264" y="3785616"/>
            <a:ext cx="2971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■ 章号 + 标题先出现在 header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4041648"/>
            <a:ext cx="2971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■ 正文双栏推进，栏间用细 rule 分开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7264" y="4297679"/>
            <a:ext cx="2971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■ panel / quote / table 都是报纸式证据位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35823" y="4663440"/>
            <a:ext cx="3182112" cy="960120"/>
          </a:xfrm>
          <a:prstGeom prst="rect">
            <a:avLst/>
          </a:prstGeom>
          <a:solidFill>
            <a:srgbClr val="F8F1DD"/>
          </a:solidFill>
          <a:ln w="952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918704" y="4809744"/>
            <a:ext cx="0" cy="658368"/>
          </a:xfrm>
          <a:prstGeom prst="line">
            <a:avLst/>
          </a:prstGeom>
          <a:ln w="30480">
            <a:solidFill>
              <a:srgbClr val="1614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138160" y="4791456"/>
            <a:ext cx="2578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报纸感来自信息组织，不来自把页面做旧。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5312664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PRODUCTION RULE · REPUBLICAN NEWSPAPER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D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0896" y="237744"/>
            <a:ext cx="11569903" cy="6382512"/>
          </a:xfrm>
          <a:prstGeom prst="rect">
            <a:avLst/>
          </a:prstGeom>
          <a:noFill/>
          <a:ln w="14604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" y="347472"/>
            <a:ext cx="11350447" cy="6163056"/>
          </a:xfrm>
          <a:prstGeom prst="rect">
            <a:avLst/>
          </a:prstGeom>
          <a:noFill/>
          <a:ln w="6350">
            <a:solidFill>
              <a:srgbClr val="4B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438912"/>
            <a:ext cx="11167567" cy="5980176"/>
          </a:xfrm>
          <a:prstGeom prst="rect">
            <a:avLst/>
          </a:prstGeom>
          <a:noFill/>
          <a:ln w="508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309360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FILED LETTER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0639" y="6309360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05 / 08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40080"/>
            <a:ext cx="3840480" cy="932688"/>
          </a:xfrm>
          <a:prstGeom prst="rect">
            <a:avLst/>
          </a:prstGeom>
          <a:solidFill>
            <a:srgbClr val="161411"/>
          </a:solidFill>
          <a:ln w="1270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768096"/>
            <a:ext cx="3584448" cy="676656"/>
          </a:xfrm>
          <a:prstGeom prst="rect">
            <a:avLst/>
          </a:prstGeom>
          <a:noFill/>
          <a:ln w="7620">
            <a:solidFill>
              <a:srgbClr val="F8F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804672"/>
            <a:ext cx="3017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8F1DD"/>
                </a:solidFill>
                <a:latin typeface="Source Han Sans SC"/>
                <a:ea typeface="京華老宋体"/>
                <a:cs typeface="Source Han Sans SC"/>
              </a:rPr>
              <a:t>FILED LETTER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04241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8F1DD"/>
                </a:solidFill>
                <a:latin typeface="KingHwa_OldSong"/>
                <a:ea typeface="京華老宋体"/>
                <a:cs typeface="KingHwa_OldSong"/>
              </a:rPr>
              <a:t>通信剪报 / 正式函件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91456" y="640080"/>
            <a:ext cx="6803136" cy="932688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777240"/>
            <a:ext cx="65471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寄件人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978408"/>
            <a:ext cx="65471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Paperlane Editorial Desk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9472" y="1325880"/>
            <a:ext cx="65471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主编室 / 上海
+86 138 5555 0123
editor@paperlane.ai
日期：2026 年 4 月 28 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865376"/>
            <a:ext cx="10881360" cy="896112"/>
          </a:xfrm>
          <a:prstGeom prst="rect">
            <a:avLst/>
          </a:prstGeom>
          <a:solidFill>
            <a:srgbClr val="F5EBD3"/>
          </a:solidFill>
          <a:ln w="1143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1865376"/>
            <a:ext cx="10881360" cy="237744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192024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F8F1DD"/>
                </a:solidFill>
                <a:latin typeface="KingHwa_OldSong"/>
                <a:ea typeface="京華老宋体"/>
                <a:cs typeface="KingHwa_OldSong"/>
              </a:rPr>
              <a:t>函件主题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1920240"/>
            <a:ext cx="2743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60" b="0">
                <a:solidFill>
                  <a:srgbClr val="F8F1DD"/>
                </a:solidFill>
                <a:latin typeface="Source Han Sans SC"/>
                <a:ea typeface="京華老宋体"/>
                <a:cs typeface="Source Han Sans SC"/>
              </a:rPr>
              <a:t>FORMAL CORRESPONDENCE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21396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关于将 republican-newspaper 独立成报纸版面体系的说明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2395728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致：主题维护与设计团队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2395728"/>
            <a:ext cx="4389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4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分类：设计修订说明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962656"/>
            <a:ext cx="10881360" cy="2697480"/>
          </a:xfrm>
          <a:prstGeom prst="rect">
            <a:avLst/>
          </a:prstGeom>
          <a:solidFill>
            <a:srgbClr val="F8F1DD"/>
          </a:solidFill>
          <a:ln w="1143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" y="3090672"/>
            <a:ext cx="10625328" cy="2441448"/>
          </a:xfrm>
          <a:prstGeom prst="rect">
            <a:avLst/>
          </a:prstGeom>
          <a:noFill/>
          <a:ln w="5715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3145536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各位同事：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419856"/>
            <a:ext cx="10012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3E382E"/>
                </a:solidFill>
                <a:latin typeface="KingHwa_OldSong"/>
                <a:ea typeface="京華老宋体"/>
                <a:cs typeface="KingHwa_OldSong"/>
              </a:rPr>
              <a:t>这次修订的重点，是把 republican-newspaper 的 slides 从 manuscript 逻辑中剥离出来，让它和现有 letter / one-pager / long-doc 保持同一个报纸系统。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" y="3895344"/>
            <a:ext cx="10012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3E382E"/>
                </a:solidFill>
                <a:latin typeface="KingHwa_OldSong"/>
                <a:ea typeface="京華老宋体"/>
                <a:cs typeface="KingHwa_OldSong"/>
              </a:rPr>
              <a:t>这意味着版面不再依赖深色外框、居中大牌匾和均分卡片，而是切回通信剪报、subject head、正文函件框、证据列表和 footer 的结构。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4370832"/>
            <a:ext cx="10012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3E382E"/>
                </a:solidFill>
                <a:latin typeface="KingHwa_OldSong"/>
                <a:ea typeface="京華老宋体"/>
                <a:cs typeface="KingHwa_OldSong"/>
              </a:rPr>
              <a:t>用户以后无论要做正式函件、专题长文还是 deck，看到的都应该是同一套报纸语法，而不是 manuscript 的骨架被旧纸色覆盖。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0704" y="4791456"/>
            <a:ext cx="2944368" cy="420624"/>
          </a:xfrm>
          <a:prstGeom prst="rect">
            <a:avLst/>
          </a:prstGeom>
          <a:solidFill>
            <a:srgbClr val="F8F1DD"/>
          </a:solidFill>
          <a:ln w="5715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4882896"/>
            <a:ext cx="2724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报头与日期线重新定义 slide 封面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79976" y="4791456"/>
            <a:ext cx="2944368" cy="420624"/>
          </a:xfrm>
          <a:prstGeom prst="rect">
            <a:avLst/>
          </a:prstGeom>
          <a:solidFill>
            <a:srgbClr val="F8F1DD"/>
          </a:solidFill>
          <a:ln w="5715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9704" y="4882896"/>
            <a:ext cx="2724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long-doc 结构进入专题页与章页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99248" y="4791456"/>
            <a:ext cx="2944368" cy="420624"/>
          </a:xfrm>
          <a:prstGeom prst="rect">
            <a:avLst/>
          </a:prstGeom>
          <a:solidFill>
            <a:srgbClr val="F8F1DD"/>
          </a:solidFill>
          <a:ln w="5715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6" y="4882896"/>
            <a:ext cx="2724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6A6257"/>
                </a:solidFill>
                <a:latin typeface="Source Han Sans SC"/>
                <a:ea typeface="京華老宋体"/>
                <a:cs typeface="Source Han Sans SC"/>
              </a:rPr>
              <a:t>letter 结构进入 correspondence slide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" y="5285232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此致　敬礼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" y="5486400"/>
            <a:ext cx="5669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如需继续统一英文版或 resume / portfolio，可在此基础上继续迁移。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5266944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5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Kami 编辑部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546811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1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Republican Themes
2026 年 4 月 28 日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13232" y="5870448"/>
            <a:ext cx="10570464" cy="0"/>
          </a:xfrm>
          <a:prstGeom prst="line">
            <a:avLst/>
          </a:prstGeom>
          <a:ln w="5715">
            <a:solidFill>
              <a:srgbClr val="B9AA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13232" y="5943600"/>
            <a:ext cx="8961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附件：附件：① 报纸版面 schema ② Slidev renderer ③ PPTX renderer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D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0896" y="237744"/>
            <a:ext cx="11569903" cy="6382512"/>
          </a:xfrm>
          <a:prstGeom prst="rect">
            <a:avLst/>
          </a:prstGeom>
          <a:noFill/>
          <a:ln w="14604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" y="347472"/>
            <a:ext cx="11350447" cy="6163056"/>
          </a:xfrm>
          <a:prstGeom prst="rect">
            <a:avLst/>
          </a:prstGeom>
          <a:noFill/>
          <a:ln w="6350">
            <a:solidFill>
              <a:srgbClr val="4B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438912"/>
            <a:ext cx="11167567" cy="5980176"/>
          </a:xfrm>
          <a:prstGeom prst="rect">
            <a:avLst/>
          </a:prstGeom>
          <a:noFill/>
          <a:ln w="508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309360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ROUTING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0639" y="6309360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06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0080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编辑台路由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63056" y="6949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用户只说任务，skill 负责判断该走哪种报纸版面。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408176"/>
            <a:ext cx="7424927" cy="457200"/>
          </a:xfrm>
          <a:prstGeom prst="rect">
            <a:avLst/>
          </a:prstGeom>
          <a:solidFill>
            <a:srgbClr val="F8F1DD"/>
          </a:solidFill>
          <a:ln w="825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53619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“帮我生成一份报纸特刊”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1888" y="1481328"/>
            <a:ext cx="1078992" cy="237744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527048"/>
            <a:ext cx="9692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one-pager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545336"/>
            <a:ext cx="7498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6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头版 / 号外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084832"/>
            <a:ext cx="7424927" cy="457200"/>
          </a:xfrm>
          <a:prstGeom prst="rect">
            <a:avLst/>
          </a:prstGeom>
          <a:solidFill>
            <a:srgbClr val="F8F1DD"/>
          </a:solidFill>
          <a:ln w="825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21284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“把这份白皮书排成旧报纸”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61888" y="2157984"/>
            <a:ext cx="1078992" cy="237744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16752" y="2203704"/>
            <a:ext cx="9692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long-doc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221992"/>
            <a:ext cx="7498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6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多页专题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761488"/>
            <a:ext cx="7424927" cy="457200"/>
          </a:xfrm>
          <a:prstGeom prst="rect">
            <a:avLst/>
          </a:prstGeom>
          <a:solidFill>
            <a:srgbClr val="F8F1DD"/>
          </a:solidFill>
          <a:ln w="825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288950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“写一封家书特刊”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61888" y="2834640"/>
            <a:ext cx="1078992" cy="237744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16752" y="2880360"/>
            <a:ext cx="9692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letter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898648"/>
            <a:ext cx="7498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6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通信剪报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7424927" cy="457200"/>
          </a:xfrm>
          <a:prstGeom prst="rect">
            <a:avLst/>
          </a:prstGeom>
          <a:solidFill>
            <a:srgbClr val="F8F1DD"/>
          </a:solidFill>
          <a:ln w="825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5661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“做一套民国报纸风 slides”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888" y="3511296"/>
            <a:ext cx="1078992" cy="237744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16752" y="3557016"/>
            <a:ext cx="9692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slides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575304"/>
            <a:ext cx="7498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6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编辑部 deck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4114800"/>
            <a:ext cx="7424927" cy="457200"/>
          </a:xfrm>
          <a:prstGeom prst="rect">
            <a:avLst/>
          </a:prstGeom>
          <a:solidFill>
            <a:srgbClr val="F8F1DD"/>
          </a:solidFill>
          <a:ln w="825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24281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“把这些内容排成好看的 PDF”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61888" y="4187952"/>
            <a:ext cx="1078992" cy="237744"/>
          </a:xfrm>
          <a:prstGeom prst="rect">
            <a:avLst/>
          </a:prstGeom>
          <a:solidFill>
            <a:srgbClr val="16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16752" y="4233672"/>
            <a:ext cx="9692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infer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251960"/>
            <a:ext cx="7498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60" b="0">
                <a:solidFill>
                  <a:srgbClr val="8A8173"/>
                </a:solidFill>
                <a:latin typeface="Source Han Sans SC"/>
                <a:ea typeface="京華老宋体"/>
                <a:cs typeface="Source Han Sans SC"/>
              </a:rPr>
              <a:t>先判类型再分版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67344" y="1408176"/>
            <a:ext cx="2688336" cy="2139696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0" y="1545336"/>
            <a:ext cx="24323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ROUTING RULES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1746504"/>
            <a:ext cx="2432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触发原则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2093976"/>
            <a:ext cx="2432304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· 先判内容类型，再判版式密度
· 红印只作为破色，不作为普通标签
· 竖排题名只用于边栏和标题带，不用于长正文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67344" y="3895344"/>
            <a:ext cx="2688336" cy="1463040"/>
          </a:xfrm>
          <a:prstGeom prst="rect">
            <a:avLst/>
          </a:prstGeom>
          <a:solidFill>
            <a:srgbClr val="161411"/>
          </a:solidFill>
          <a:ln w="1143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686800" y="4059935"/>
            <a:ext cx="877824" cy="877824"/>
          </a:xfrm>
          <a:prstGeom prst="ellipse">
            <a:avLst/>
          </a:prstGeom>
          <a:noFill/>
          <a:ln w="12700">
            <a:solidFill>
              <a:srgbClr val="B73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769096" y="4142231"/>
            <a:ext cx="713232" cy="713232"/>
          </a:xfrm>
          <a:prstGeom prst="ellipse">
            <a:avLst/>
          </a:prstGeom>
          <a:noFill/>
          <a:ln w="5715">
            <a:solidFill>
              <a:srgbClr val="B73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59952" y="4288535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B7352A"/>
                </a:solidFill>
                <a:latin typeface="KingHwa_OldSong"/>
                <a:ea typeface="京華老宋体"/>
                <a:cs typeface="KingHwa_OldSong"/>
              </a:rPr>
              <a:t>编辑印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4626863"/>
            <a:ext cx="6949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" b="0">
                <a:solidFill>
                  <a:srgbClr val="B7352A"/>
                </a:solidFill>
                <a:latin typeface="Source Han Sans SC"/>
                <a:ea typeface="京華老宋体"/>
                <a:cs typeface="Source Han Sans SC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8" y="420624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F8F1DD"/>
                </a:solidFill>
                <a:latin typeface="Source Han Sans SC"/>
                <a:ea typeface="京華老宋体"/>
                <a:cs typeface="Source Han Sans SC"/>
              </a:rPr>
              <a:t>自然语言触发
不依赖 slash command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D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0896" y="237744"/>
            <a:ext cx="11569903" cy="6382512"/>
          </a:xfrm>
          <a:prstGeom prst="rect">
            <a:avLst/>
          </a:prstGeom>
          <a:noFill/>
          <a:ln w="14604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" y="347472"/>
            <a:ext cx="11350447" cy="6163056"/>
          </a:xfrm>
          <a:prstGeom prst="rect">
            <a:avLst/>
          </a:prstGeom>
          <a:noFill/>
          <a:ln w="6350">
            <a:solidFill>
              <a:srgbClr val="4B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438912"/>
            <a:ext cx="11167567" cy="5980176"/>
          </a:xfrm>
          <a:prstGeom prst="rect">
            <a:avLst/>
          </a:prstGeom>
          <a:noFill/>
          <a:ln w="508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309360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PRODUCTION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0639" y="6309360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07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008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构建链路也要像报社排版一样稳定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4" y="694944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生产方法可以复用，但版式不能借用 manuscript。输出现在同时覆盖 PPTX 和 Slidev。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536192"/>
            <a:ext cx="2304288" cy="1371600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673352"/>
            <a:ext cx="20482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874520"/>
            <a:ext cx="20482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221992"/>
            <a:ext cx="2048256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报纸内容先写进 slides_spec.py。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1536192"/>
            <a:ext cx="2304288" cy="1371600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1673352"/>
            <a:ext cx="20482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1874520"/>
            <a:ext cx="20482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2221992"/>
            <a:ext cx="2048256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slides.py 用 newspaper 组件渲染屏幕版。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70448" y="1536192"/>
            <a:ext cx="2304288" cy="1371600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98464" y="1673352"/>
            <a:ext cx="20482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8464" y="1874520"/>
            <a:ext cx="20482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Slidev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98464" y="2221992"/>
            <a:ext cx="2048256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render_from_spec.py 用同一 schema 渲染 HTML 版。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536192"/>
            <a:ext cx="2304288" cy="1371600"/>
          </a:xfrm>
          <a:prstGeom prst="rect">
            <a:avLst/>
          </a:prstGeom>
          <a:solidFill>
            <a:srgbClr val="F5EBD3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1673352"/>
            <a:ext cx="20482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1874520"/>
            <a:ext cx="20482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7072" y="2221992"/>
            <a:ext cx="2048256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8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build.py 统一产出 demo-slides.pptx 与 slides-online。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3419856"/>
            <a:ext cx="10442448" cy="841248"/>
          </a:xfrm>
          <a:prstGeom prst="rect">
            <a:avLst/>
          </a:prstGeom>
          <a:solidFill>
            <a:srgbClr val="161411"/>
          </a:solidFill>
          <a:ln w="1016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657600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印务命令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3529584"/>
            <a:ext cx="8650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python3 scripts/build.py slides
python3 scripts/build.py --verify slides
python3 assets/demos/slides-online/slides-online-preview.py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4608576"/>
            <a:ext cx="3090672" cy="877824"/>
          </a:xfrm>
          <a:prstGeom prst="rect">
            <a:avLst/>
          </a:prstGeom>
          <a:solidFill>
            <a:srgbClr val="F5EBD3"/>
          </a:solidFill>
          <a:ln w="952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4901184"/>
            <a:ext cx="2788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不残留 archive blue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40" y="4608576"/>
            <a:ext cx="3090672" cy="877824"/>
          </a:xfrm>
          <a:prstGeom prst="rect">
            <a:avLst/>
          </a:prstGeom>
          <a:solidFill>
            <a:srgbClr val="F5EBD3"/>
          </a:solidFill>
          <a:ln w="952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52544" y="4901184"/>
            <a:ext cx="2788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不回退 manuscript plaque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99248" y="4608576"/>
            <a:ext cx="3090672" cy="877824"/>
          </a:xfrm>
          <a:prstGeom prst="rect">
            <a:avLst/>
          </a:prstGeom>
          <a:solidFill>
            <a:srgbClr val="F5EBD3"/>
          </a:solidFill>
          <a:ln w="9525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4901184"/>
            <a:ext cx="2788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在线预览与 PPT 内容同构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D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0896" y="237744"/>
            <a:ext cx="11569903" cy="6382512"/>
          </a:xfrm>
          <a:prstGeom prst="rect">
            <a:avLst/>
          </a:prstGeom>
          <a:noFill/>
          <a:ln w="14604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" y="347472"/>
            <a:ext cx="11350447" cy="6163056"/>
          </a:xfrm>
          <a:prstGeom prst="rect">
            <a:avLst/>
          </a:prstGeom>
          <a:noFill/>
          <a:ln w="6350">
            <a:solidFill>
              <a:srgbClr val="4B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438912"/>
            <a:ext cx="11167567" cy="5980176"/>
          </a:xfrm>
          <a:prstGeom prst="rect">
            <a:avLst/>
          </a:prstGeom>
          <a:noFill/>
          <a:ln w="5080">
            <a:solidFill>
              <a:srgbClr val="B9AA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309360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FINAL EDITION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0639" y="6309360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8A8173"/>
                </a:solidFill>
                <a:latin typeface="JetBrains Mono"/>
                <a:ea typeface="京華老宋体"/>
                <a:cs typeface="JetBrains Mono"/>
              </a:rPr>
              <a:t>08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0080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终刊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042416"/>
            <a:ext cx="5303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3E382E"/>
                </a:solidFill>
                <a:latin typeface="Source Han Sans SC"/>
                <a:ea typeface="京華老宋体"/>
                <a:cs typeface="Source Han Sans SC"/>
              </a:rPr>
              <a:t>旧报纸底 / 黑色铅字 / 竖排题名 / 剪报拼版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1280159"/>
            <a:ext cx="10765231" cy="0"/>
          </a:xfrm>
          <a:prstGeom prst="line">
            <a:avLst/>
          </a:prstGeom>
          <a:ln w="13970">
            <a:solidFill>
              <a:srgbClr val="1614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7824" y="1755648"/>
            <a:ext cx="57150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800" b="0">
                <a:solidFill>
                  <a:srgbClr val="161411"/>
                </a:solidFill>
                <a:latin typeface="KingHwa_OldSong"/>
                <a:ea typeface="京華老宋体"/>
                <a:cs typeface="KingHwa_OldSong"/>
              </a:rPr>
              <a:t>报纸主题要有
自己的版面语法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90672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19" b="0">
                <a:solidFill>
                  <a:srgbClr val="514A3F"/>
                </a:solidFill>
                <a:latin typeface="Source Han Sans SC"/>
                <a:ea typeface="京華老宋体"/>
                <a:cs typeface="Source Han Sans SC"/>
              </a:rPr>
              <a:t>republican-themes 可以复用 manuscript 的生成骨架，但 PPTX 和 Slidev 的布局、组件、节奏与视觉层级必须完全属于自己的主题系统。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1627632"/>
            <a:ext cx="3438144" cy="2816352"/>
          </a:xfrm>
          <a:prstGeom prst="rect">
            <a:avLst/>
          </a:prstGeom>
          <a:solidFill>
            <a:srgbClr val="161411"/>
          </a:solidFill>
          <a:ln w="11430">
            <a:solidFill>
              <a:srgbClr val="1614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8704" y="1938528"/>
            <a:ext cx="2962656" cy="221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20" b="0">
                <a:solidFill>
                  <a:srgbClr val="F8F1DD"/>
                </a:solidFill>
                <a:latin typeface="JetBrains Mono"/>
                <a:ea typeface="京華老宋体"/>
                <a:cs typeface="JetBrains Mono"/>
              </a:rPr>
              <a:t>NO MANUSCRIPT PLAQUE
NO ARCHIVE FRAME
USE MASTHEAD / DATELINE /
CLIPPING / BODY FRAME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828032"/>
            <a:ext cx="5925312" cy="0"/>
          </a:xfrm>
          <a:prstGeom prst="line">
            <a:avLst/>
          </a:prstGeom>
          <a:ln w="7620">
            <a:solidFill>
              <a:srgbClr val="4B403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010912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1F1B16"/>
                </a:solidFill>
                <a:latin typeface="KingHwa_OldSong"/>
                <a:ea typeface="京華老宋体"/>
                <a:cs typeface="KingHwa_OldSong"/>
              </a:rPr>
              <a:t>像一份可信的旧报刊材料，而不是换色后的馆藏文稿。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京華老宋体"/>
        <a:cs typeface=""/>
        <a:font script="Jpan" typeface="ＭＳ Ｐゴシック"/>
        <a:font script="Hang" typeface="맑은 고딕"/>
        <a:font script="Hans" typeface="京華老宋体"/>
        <a:font script="Hant" typeface="京華老宋体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京華老宋体"/>
        <a:cs typeface=""/>
        <a:font script="Jpan" typeface="ＭＳ Ｐゴシック"/>
        <a:font script="Hang" typeface="맑은 고딕"/>
        <a:font script="Hans" typeface="京華老宋体"/>
        <a:font script="Hant" typeface="京華老宋体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