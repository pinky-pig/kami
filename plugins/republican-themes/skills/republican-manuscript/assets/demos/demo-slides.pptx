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3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solidFill>
            <a:srgbClr val="F6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aper-over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384048"/>
            <a:ext cx="11423599" cy="6089904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548640"/>
            <a:ext cx="11094415" cy="5760720"/>
          </a:xfrm>
          <a:prstGeom prst="rect">
            <a:avLst/>
          </a:prstGeom>
          <a:noFill/>
          <a:ln w="12700">
            <a:solidFill>
              <a:srgbClr val="2438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9224" y="649224"/>
            <a:ext cx="10893247" cy="5559552"/>
          </a:xfrm>
          <a:prstGeom prst="rect">
            <a:avLst/>
          </a:prstGeom>
          <a:noFill/>
          <a:ln w="5715">
            <a:solidFill>
              <a:srgbClr val="4D5B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126480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8B8782"/>
                </a:solidFill>
                <a:latin typeface="JetBrains Mono"/>
                <a:ea typeface="京華老宋体"/>
                <a:cs typeface="JetBrains Mono"/>
              </a:rPr>
              <a:t>REPUBLICAN MANUSCRIPT EDITION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36047" y="6126480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>
                <a:solidFill>
                  <a:srgbClr val="8B8782"/>
                </a:solidFill>
                <a:latin typeface="JetBrains Mono"/>
                <a:ea typeface="京華老宋体"/>
                <a:cs typeface="JetBrains Mono"/>
              </a:rPr>
              <a:t>01 / 08</a:t>
            </a:r>
          </a:p>
        </p:txBody>
      </p:sp>
      <p:sp>
        <p:nvSpPr>
          <p:cNvPr id="9" name="Rectangle 8"/>
          <p:cNvSpPr/>
          <p:nvPr/>
        </p:nvSpPr>
        <p:spPr>
          <a:xfrm>
            <a:off x="1042416" y="1097280"/>
            <a:ext cx="6400800" cy="2560320"/>
          </a:xfrm>
          <a:prstGeom prst="rect">
            <a:avLst/>
          </a:prstGeom>
          <a:solidFill>
            <a:srgbClr val="243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61288" y="1216152"/>
            <a:ext cx="6163056" cy="2322576"/>
          </a:xfrm>
          <a:prstGeom prst="rect">
            <a:avLst/>
          </a:prstGeom>
          <a:solidFill>
            <a:srgbClr val="243851"/>
          </a:solidFill>
          <a:ln w="9525">
            <a:solidFill>
              <a:srgbClr val="F3E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1389888"/>
            <a:ext cx="570585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D5DEE7"/>
                </a:solidFill>
                <a:latin typeface="JetBrains Mono"/>
                <a:ea typeface="京華老宋体"/>
                <a:cs typeface="JetBrains Mono"/>
              </a:rPr>
              <a:t>KAMI · SLIDES DEMO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792224"/>
            <a:ext cx="5742432" cy="1508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2000"/>
              </a:lnSpc>
            </a:pPr>
            <a:r>
              <a:rPr sz="3400" b="0">
                <a:solidFill>
                  <a:srgbClr val="F3EFEB"/>
                </a:solidFill>
                <a:latin typeface="KingHwa_OldSong"/>
                <a:ea typeface="京華老宋体"/>
                <a:cs typeface="KingHwa_OldSong"/>
              </a:rPr>
              <a:t>把 AI 文档
排成馆藏文稿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3218688"/>
            <a:ext cx="570585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D5DEE7"/>
                </a:solidFill>
                <a:latin typeface="Source Han Sans SC"/>
                <a:ea typeface="京華老宋体"/>
                <a:cs typeface="Source Han Sans SC"/>
              </a:rPr>
              <a:t>深蓝外框 / 旧纸内页 / 档案题签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1298448"/>
            <a:ext cx="3154680" cy="1335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4A4947"/>
                </a:solidFill>
                <a:latin typeface="Source Han Sans SC"/>
                <a:ea typeface="京華老宋体"/>
                <a:cs typeface="Source Han Sans SC"/>
              </a:rPr>
              <a:t>Just tell Claude what you need:
“帮我生成一份白皮书” / “生成一份项目方案” / “帮我写一份推荐信” / “做一套汇报 slides”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63840" y="2962656"/>
            <a:ext cx="1417320" cy="1078992"/>
          </a:xfrm>
          <a:prstGeom prst="rect">
            <a:avLst/>
          </a:prstGeom>
          <a:solidFill>
            <a:srgbClr val="F3EFEB"/>
          </a:solidFill>
          <a:ln w="10160">
            <a:solidFill>
              <a:srgbClr val="4D5B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28432" y="3108960"/>
            <a:ext cx="108813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0">
                <a:solidFill>
                  <a:srgbClr val="243851"/>
                </a:solidFill>
                <a:latin typeface="KingHwa_OldSong"/>
                <a:ea typeface="京華老宋体"/>
                <a:cs typeface="KingHwa_OldSong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28432" y="3493008"/>
            <a:ext cx="108813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B8782"/>
                </a:solidFill>
                <a:latin typeface="Source Han Sans SC"/>
                <a:ea typeface="京華老宋体"/>
                <a:cs typeface="Source Han Sans SC"/>
              </a:rPr>
              <a:t>DEMO SET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28432" y="3712464"/>
            <a:ext cx="10881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66361"/>
                </a:solidFill>
                <a:latin typeface="Source Han Sans SC"/>
                <a:ea typeface="京華老宋体"/>
                <a:cs typeface="Source Han Sans SC"/>
              </a:rPr>
              <a:t>docs + slides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436608" y="2962656"/>
            <a:ext cx="1417320" cy="1078992"/>
          </a:xfrm>
          <a:prstGeom prst="rect">
            <a:avLst/>
          </a:prstGeom>
          <a:solidFill>
            <a:srgbClr val="F3EFEB"/>
          </a:solidFill>
          <a:ln w="10160">
            <a:solidFill>
              <a:srgbClr val="4D5B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0" y="3108960"/>
            <a:ext cx="108813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0">
                <a:solidFill>
                  <a:srgbClr val="243851"/>
                </a:solidFill>
                <a:latin typeface="KingHwa_OldSong"/>
                <a:ea typeface="京華老宋体"/>
                <a:cs typeface="KingHwa_OldSong"/>
              </a:rPr>
              <a:t>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3493008"/>
            <a:ext cx="108813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B8782"/>
                </a:solidFill>
                <a:latin typeface="Source Han Sans SC"/>
                <a:ea typeface="京華老宋体"/>
                <a:cs typeface="Source Han Sans SC"/>
              </a:rPr>
              <a:t>VISUAL RULE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3712464"/>
            <a:ext cx="10881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66361"/>
                </a:solidFill>
                <a:latin typeface="Source Han Sans SC"/>
                <a:ea typeface="京華老宋体"/>
                <a:cs typeface="Source Han Sans SC"/>
              </a:rPr>
              <a:t>archive blue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" y="5596128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B8782"/>
                </a:solidFill>
                <a:latin typeface="JetBrains Mono"/>
                <a:ea typeface="京華老宋体"/>
                <a:cs typeface="JetBrains Mono"/>
              </a:rPr>
              <a:t>2026.04 · KAMI FORK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3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solidFill>
            <a:srgbClr val="F6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aper-over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384048"/>
            <a:ext cx="11423599" cy="6089904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548640"/>
            <a:ext cx="11094415" cy="5760720"/>
          </a:xfrm>
          <a:prstGeom prst="rect">
            <a:avLst/>
          </a:prstGeom>
          <a:noFill/>
          <a:ln w="12700">
            <a:solidFill>
              <a:srgbClr val="2438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9224" y="649224"/>
            <a:ext cx="10893247" cy="5559552"/>
          </a:xfrm>
          <a:prstGeom prst="rect">
            <a:avLst/>
          </a:prstGeom>
          <a:noFill/>
          <a:ln w="5715">
            <a:solidFill>
              <a:srgbClr val="4D5B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126480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8B8782"/>
                </a:solidFill>
                <a:latin typeface="JetBrains Mono"/>
                <a:ea typeface="京華老宋体"/>
                <a:cs typeface="JetBrains Mono"/>
              </a:rPr>
              <a:t>METHOD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36047" y="6126480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>
                <a:solidFill>
                  <a:srgbClr val="8B8782"/>
                </a:solidFill>
                <a:latin typeface="JetBrains Mono"/>
                <a:ea typeface="京華老宋体"/>
                <a:cs typeface="JetBrains Mono"/>
              </a:rPr>
              <a:t>02 / 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914400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B8782"/>
                </a:solidFill>
                <a:latin typeface="JetBrains Mono"/>
                <a:ea typeface="京華老宋体"/>
                <a:cs typeface="JetBrains Mono"/>
              </a:rPr>
              <a:t>01 · SECTION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1225296"/>
            <a:ext cx="5212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>
                <a:solidFill>
                  <a:srgbClr val="232222"/>
                </a:solidFill>
                <a:latin typeface="KingHwa_OldSong"/>
                <a:ea typeface="京華老宋体"/>
                <a:cs typeface="KingHwa_OldSong"/>
              </a:rPr>
              <a:t>生成原理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24128" y="1801368"/>
            <a:ext cx="3840480" cy="0"/>
          </a:xfrm>
          <a:prstGeom prst="line">
            <a:avLst/>
          </a:prstGeom>
          <a:ln w="9525">
            <a:solidFill>
              <a:srgbClr val="2438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784848" y="1207008"/>
            <a:ext cx="4389120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>
                <a:solidFill>
                  <a:srgbClr val="666361"/>
                </a:solidFill>
                <a:latin typeface="Source Han Sans SC"/>
                <a:ea typeface="京華老宋体"/>
                <a:cs typeface="Source Han Sans SC"/>
              </a:rPr>
              <a:t>好看的本质不是每次重新设计，而是把内容填进稳定模板。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36047" y="6126480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>
                <a:solidFill>
                  <a:srgbClr val="8B8782"/>
                </a:solidFill>
                <a:latin typeface="JetBrains Mono"/>
                <a:ea typeface="京華老宋体"/>
                <a:cs typeface="JetBrains Mono"/>
              </a:rPr>
              <a:t>02 / 08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42416" y="2258567"/>
            <a:ext cx="2304288" cy="2240280"/>
          </a:xfrm>
          <a:prstGeom prst="rect">
            <a:avLst/>
          </a:prstGeom>
          <a:solidFill>
            <a:srgbClr val="F3EFEB"/>
          </a:solidFill>
          <a:ln w="8890">
            <a:solidFill>
              <a:srgbClr val="D0C7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2416" y="2258567"/>
            <a:ext cx="2304288" cy="310896"/>
          </a:xfrm>
          <a:prstGeom prst="rect">
            <a:avLst/>
          </a:prstGeom>
          <a:solidFill>
            <a:srgbClr val="243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07008" y="2350007"/>
            <a:ext cx="19751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0">
                <a:solidFill>
                  <a:srgbClr val="D5DEE7"/>
                </a:solidFill>
                <a:latin typeface="JetBrains Mono"/>
                <a:ea typeface="京華老宋体"/>
                <a:cs typeface="JetBrains Mono"/>
              </a:rPr>
              <a:t>STEP 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25296" y="2697479"/>
            <a:ext cx="193852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232222"/>
                </a:solidFill>
                <a:latin typeface="KingHwa_OldSong"/>
                <a:ea typeface="京華老宋体"/>
                <a:cs typeface="KingHwa_OldSong"/>
              </a:rPr>
              <a:t>路由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25296" y="3136391"/>
            <a:ext cx="1938528" cy="1545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A4947"/>
                </a:solidFill>
                <a:latin typeface="Source Han Sans SC"/>
                <a:ea typeface="京華老宋体"/>
                <a:cs typeface="Source Han Sans SC"/>
              </a:rPr>
              <a:t>先判断语言与文档类型：one-pager、long-doc、letter、slides。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66744" y="2258567"/>
            <a:ext cx="2304288" cy="2240280"/>
          </a:xfrm>
          <a:prstGeom prst="rect">
            <a:avLst/>
          </a:prstGeom>
          <a:solidFill>
            <a:srgbClr val="F3EFEB"/>
          </a:solidFill>
          <a:ln w="8890">
            <a:solidFill>
              <a:srgbClr val="D0C7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66744" y="2258567"/>
            <a:ext cx="2304288" cy="310896"/>
          </a:xfrm>
          <a:prstGeom prst="rect">
            <a:avLst/>
          </a:prstGeom>
          <a:solidFill>
            <a:srgbClr val="243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31336" y="2350007"/>
            <a:ext cx="19751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0">
                <a:solidFill>
                  <a:srgbClr val="D5DEE7"/>
                </a:solidFill>
                <a:latin typeface="JetBrains Mono"/>
                <a:ea typeface="京華老宋体"/>
                <a:cs typeface="JetBrains Mono"/>
              </a:rPr>
              <a:t>STEP 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9624" y="2697479"/>
            <a:ext cx="193852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232222"/>
                </a:solidFill>
                <a:latin typeface="KingHwa_OldSong"/>
                <a:ea typeface="京華老宋体"/>
                <a:cs typeface="KingHwa_OldSong"/>
              </a:rPr>
              <a:t>整理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9624" y="3136391"/>
            <a:ext cx="1938528" cy="1545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A4947"/>
                </a:solidFill>
                <a:latin typeface="Source Han Sans SC"/>
                <a:ea typeface="京華老宋体"/>
                <a:cs typeface="Source Han Sans SC"/>
              </a:rPr>
              <a:t>把 raw material 拆成事实、数字、判断和行动，而不是直接堆文字。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91072" y="2258567"/>
            <a:ext cx="2304288" cy="2240280"/>
          </a:xfrm>
          <a:prstGeom prst="rect">
            <a:avLst/>
          </a:prstGeom>
          <a:solidFill>
            <a:srgbClr val="F3EFEB"/>
          </a:solidFill>
          <a:ln w="8890">
            <a:solidFill>
              <a:srgbClr val="D0C7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91072" y="2258567"/>
            <a:ext cx="2304288" cy="310896"/>
          </a:xfrm>
          <a:prstGeom prst="rect">
            <a:avLst/>
          </a:prstGeom>
          <a:solidFill>
            <a:srgbClr val="243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55664" y="2350007"/>
            <a:ext cx="19751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0">
                <a:solidFill>
                  <a:srgbClr val="D5DEE7"/>
                </a:solidFill>
                <a:latin typeface="JetBrains Mono"/>
                <a:ea typeface="京華老宋体"/>
                <a:cs typeface="JetBrains Mono"/>
              </a:rPr>
              <a:t>STEP 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73952" y="2697479"/>
            <a:ext cx="193852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232222"/>
                </a:solidFill>
                <a:latin typeface="KingHwa_OldSong"/>
                <a:ea typeface="京華老宋体"/>
                <a:cs typeface="KingHwa_OldSong"/>
              </a:rPr>
              <a:t>填充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73952" y="3136391"/>
            <a:ext cx="1938528" cy="1545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A4947"/>
                </a:solidFill>
                <a:latin typeface="Source Han Sans SC"/>
                <a:ea typeface="京華老宋体"/>
                <a:cs typeface="Source Han Sans SC"/>
              </a:rPr>
              <a:t>使用固定骨架承载内容，避免 AI 每次自由发挥版式。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915400" y="2258567"/>
            <a:ext cx="2304288" cy="2240280"/>
          </a:xfrm>
          <a:prstGeom prst="rect">
            <a:avLst/>
          </a:prstGeom>
          <a:solidFill>
            <a:srgbClr val="F3EFEB"/>
          </a:solidFill>
          <a:ln w="8890">
            <a:solidFill>
              <a:srgbClr val="D0C7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915400" y="2258567"/>
            <a:ext cx="2304288" cy="310896"/>
          </a:xfrm>
          <a:prstGeom prst="rect">
            <a:avLst/>
          </a:prstGeom>
          <a:solidFill>
            <a:srgbClr val="243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79992" y="2350007"/>
            <a:ext cx="19751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0">
                <a:solidFill>
                  <a:srgbClr val="D5DEE7"/>
                </a:solidFill>
                <a:latin typeface="JetBrains Mono"/>
                <a:ea typeface="京華老宋体"/>
                <a:cs typeface="JetBrains Mono"/>
              </a:rPr>
              <a:t>STEP 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98280" y="2697479"/>
            <a:ext cx="193852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232222"/>
                </a:solidFill>
                <a:latin typeface="KingHwa_OldSong"/>
                <a:ea typeface="京華老宋体"/>
                <a:cs typeface="KingHwa_OldSong"/>
              </a:rPr>
              <a:t>校验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98280" y="3136391"/>
            <a:ext cx="1938528" cy="1545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A4947"/>
                </a:solidFill>
                <a:latin typeface="Source Han Sans SC"/>
                <a:ea typeface="京華老宋体"/>
                <a:cs typeface="Source Han Sans SC"/>
              </a:rPr>
              <a:t>构建脚本检查页数、字体、占位符与 CSS 约束。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72768" y="5193792"/>
            <a:ext cx="9144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0">
                <a:solidFill>
                  <a:srgbClr val="243851"/>
                </a:solidFill>
                <a:latin typeface="KingHwa_OldSong"/>
                <a:ea typeface="京華老宋体"/>
                <a:cs typeface="KingHwa_OldSong"/>
              </a:rPr>
              <a:t>固定版式 + design token + 字体层级 + 构建校验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3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solidFill>
            <a:srgbClr val="F6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aper-over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384048"/>
            <a:ext cx="11423599" cy="6089904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548640"/>
            <a:ext cx="11094415" cy="5760720"/>
          </a:xfrm>
          <a:prstGeom prst="rect">
            <a:avLst/>
          </a:prstGeom>
          <a:noFill/>
          <a:ln w="12700">
            <a:solidFill>
              <a:srgbClr val="2438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9224" y="649224"/>
            <a:ext cx="10893247" cy="5559552"/>
          </a:xfrm>
          <a:prstGeom prst="rect">
            <a:avLst/>
          </a:prstGeom>
          <a:noFill/>
          <a:ln w="5715">
            <a:solidFill>
              <a:srgbClr val="4D5B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126480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8B8782"/>
                </a:solidFill>
                <a:latin typeface="JetBrains Mono"/>
                <a:ea typeface="京華老宋体"/>
                <a:cs typeface="JetBrains Mono"/>
              </a:rPr>
              <a:t>DESIGN TOKENS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36047" y="6126480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>
                <a:solidFill>
                  <a:srgbClr val="8B8782"/>
                </a:solidFill>
                <a:latin typeface="JetBrains Mono"/>
                <a:ea typeface="京華老宋体"/>
                <a:cs typeface="JetBrains Mono"/>
              </a:rPr>
              <a:t>03 / 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914400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B8782"/>
                </a:solidFill>
                <a:latin typeface="JetBrains Mono"/>
                <a:ea typeface="京華老宋体"/>
                <a:cs typeface="JetBrains Mono"/>
              </a:rPr>
              <a:t>02 · SECTION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1225296"/>
            <a:ext cx="5212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>
                <a:solidFill>
                  <a:srgbClr val="232222"/>
                </a:solidFill>
                <a:latin typeface="KingHwa_OldSong"/>
                <a:ea typeface="京華老宋体"/>
                <a:cs typeface="KingHwa_OldSong"/>
              </a:rPr>
              <a:t>民国文稿视觉语言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24128" y="1801368"/>
            <a:ext cx="3840480" cy="0"/>
          </a:xfrm>
          <a:prstGeom prst="line">
            <a:avLst/>
          </a:prstGeom>
          <a:ln w="9525">
            <a:solidFill>
              <a:srgbClr val="2438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784848" y="1207008"/>
            <a:ext cx="4389120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>
                <a:solidFill>
                  <a:srgbClr val="666361"/>
                </a:solidFill>
                <a:latin typeface="Source Han Sans SC"/>
                <a:ea typeface="京華老宋体"/>
                <a:cs typeface="Source Han Sans SC"/>
              </a:rPr>
              <a:t>不做复古海报，不做重纹理，只把专业文档整理成被认真归档过的样子。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36047" y="6126480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>
                <a:solidFill>
                  <a:srgbClr val="8B8782"/>
                </a:solidFill>
                <a:latin typeface="JetBrains Mono"/>
                <a:ea typeface="京華老宋体"/>
                <a:cs typeface="JetBrains Mono"/>
              </a:rPr>
              <a:t>03 / 08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97280" y="2350008"/>
            <a:ext cx="2011680" cy="1051560"/>
          </a:xfrm>
          <a:prstGeom prst="rect">
            <a:avLst/>
          </a:prstGeom>
          <a:solidFill>
            <a:srgbClr val="243851"/>
          </a:solidFill>
          <a:ln w="6350">
            <a:solidFill>
              <a:srgbClr val="F3E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584448"/>
            <a:ext cx="2011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8B8782"/>
                </a:solidFill>
                <a:latin typeface="JetBrains Mono"/>
                <a:ea typeface="京華老宋体"/>
                <a:cs typeface="JetBrains Mono"/>
              </a:rPr>
              <a:t>ARCHIVE BLUE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858768"/>
            <a:ext cx="20116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243851"/>
                </a:solidFill>
                <a:latin typeface="KingHwa_OldSong"/>
                <a:ea typeface="京華老宋体"/>
                <a:cs typeface="KingHwa_OldSong"/>
              </a:rPr>
              <a:t>#243851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160520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666361"/>
                </a:solidFill>
                <a:latin typeface="Source Han Sans SC"/>
                <a:ea typeface="京華老宋体"/>
                <a:cs typeface="Source Han Sans SC"/>
              </a:rPr>
              <a:t>外框 / 题签 / 强调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0" y="2350008"/>
            <a:ext cx="2011680" cy="1051560"/>
          </a:xfrm>
          <a:prstGeom prst="rect">
            <a:avLst/>
          </a:prstGeom>
          <a:solidFill>
            <a:srgbClr val="EBE5DD"/>
          </a:solidFill>
          <a:ln w="6350">
            <a:solidFill>
              <a:srgbClr val="4D5B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0" y="3584448"/>
            <a:ext cx="2011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8B8782"/>
                </a:solidFill>
                <a:latin typeface="JetBrains Mono"/>
                <a:ea typeface="京華老宋体"/>
                <a:cs typeface="JetBrains Mono"/>
              </a:rPr>
              <a:t>OLD PAPER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3858768"/>
            <a:ext cx="20116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243851"/>
                </a:solidFill>
                <a:latin typeface="KingHwa_OldSong"/>
                <a:ea typeface="京華老宋体"/>
                <a:cs typeface="KingHwa_OldSong"/>
              </a:rPr>
              <a:t>#EBE5DD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4160520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666361"/>
                </a:solidFill>
                <a:latin typeface="Source Han Sans SC"/>
                <a:ea typeface="京華老宋体"/>
                <a:cs typeface="Source Han Sans SC"/>
              </a:rPr>
              <a:t>正文纸面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7920" y="2350008"/>
            <a:ext cx="2011680" cy="1051560"/>
          </a:xfrm>
          <a:prstGeom prst="rect">
            <a:avLst/>
          </a:prstGeom>
          <a:solidFill>
            <a:srgbClr val="F3EFEB"/>
          </a:solidFill>
          <a:ln w="6350">
            <a:solidFill>
              <a:srgbClr val="4D5B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7920" y="3584448"/>
            <a:ext cx="2011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8B8782"/>
                </a:solidFill>
                <a:latin typeface="JetBrains Mono"/>
                <a:ea typeface="京華老宋体"/>
                <a:cs typeface="JetBrains Mono"/>
              </a:rPr>
              <a:t>IVORY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3858768"/>
            <a:ext cx="20116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243851"/>
                </a:solidFill>
                <a:latin typeface="KingHwa_OldSong"/>
                <a:ea typeface="京華老宋体"/>
                <a:cs typeface="KingHwa_OldSong"/>
              </a:rPr>
              <a:t>#F3EFEB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4160520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666361"/>
                </a:solidFill>
                <a:latin typeface="Source Han Sans SC"/>
                <a:ea typeface="京華老宋体"/>
                <a:cs typeface="Source Han Sans SC"/>
              </a:rPr>
              <a:t>卡片与浮层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778240" y="2350008"/>
            <a:ext cx="2011680" cy="1051560"/>
          </a:xfrm>
          <a:prstGeom prst="rect">
            <a:avLst/>
          </a:prstGeom>
          <a:solidFill>
            <a:srgbClr val="D0C7BB"/>
          </a:solidFill>
          <a:ln w="6350">
            <a:solidFill>
              <a:srgbClr val="4D5B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78240" y="3584448"/>
            <a:ext cx="2011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8B8782"/>
                </a:solidFill>
                <a:latin typeface="JetBrains Mono"/>
                <a:ea typeface="京華老宋体"/>
                <a:cs typeface="JetBrains Mono"/>
              </a:rPr>
              <a:t>BORDER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78240" y="3858768"/>
            <a:ext cx="20116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243851"/>
                </a:solidFill>
                <a:latin typeface="KingHwa_OldSong"/>
                <a:ea typeface="京華老宋体"/>
                <a:cs typeface="KingHwa_OldSong"/>
              </a:rPr>
              <a:t>#D0C7BB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240" y="4160520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666361"/>
                </a:solidFill>
                <a:latin typeface="Source Han Sans SC"/>
                <a:ea typeface="京華老宋体"/>
                <a:cs typeface="Source Han Sans SC"/>
              </a:rPr>
              <a:t>细线和分隔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481328" y="5001768"/>
            <a:ext cx="9601200" cy="804672"/>
          </a:xfrm>
          <a:prstGeom prst="rect">
            <a:avLst/>
          </a:prstGeom>
          <a:solidFill>
            <a:srgbClr val="F3EFEB"/>
          </a:solidFill>
          <a:ln w="8890">
            <a:solidFill>
              <a:srgbClr val="D0C7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664208" y="5221224"/>
            <a:ext cx="92354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232222"/>
                </a:solidFill>
                <a:latin typeface="KingHwa_OldSong"/>
                <a:ea typeface="京華老宋体"/>
                <a:cs typeface="KingHwa_OldSong"/>
              </a:rPr>
              <a:t>装饰边界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64208" y="5660136"/>
            <a:ext cx="9235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A4947"/>
                </a:solidFill>
                <a:latin typeface="Source Han Sans SC"/>
                <a:ea typeface="京華老宋体"/>
                <a:cs typeface="Source Han Sans SC"/>
              </a:rPr>
              <a:t>只允许蓝色题签、细双线内框、档案边框；不加入纹理图片、印章贴图和竖排正文。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3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solidFill>
            <a:srgbClr val="F6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aper-over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384048"/>
            <a:ext cx="11423599" cy="6089904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548640"/>
            <a:ext cx="11094415" cy="5760720"/>
          </a:xfrm>
          <a:prstGeom prst="rect">
            <a:avLst/>
          </a:prstGeom>
          <a:noFill/>
          <a:ln w="12700">
            <a:solidFill>
              <a:srgbClr val="2438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9224" y="649224"/>
            <a:ext cx="10893247" cy="5559552"/>
          </a:xfrm>
          <a:prstGeom prst="rect">
            <a:avLst/>
          </a:prstGeom>
          <a:noFill/>
          <a:ln w="5715">
            <a:solidFill>
              <a:srgbClr val="4D5B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126480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8B8782"/>
                </a:solidFill>
                <a:latin typeface="JetBrains Mono"/>
                <a:ea typeface="京華老宋体"/>
                <a:cs typeface="JetBrains Mono"/>
              </a:rPr>
              <a:t>TEMPLATES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36047" y="6126480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>
                <a:solidFill>
                  <a:srgbClr val="8B8782"/>
                </a:solidFill>
                <a:latin typeface="JetBrains Mono"/>
                <a:ea typeface="京華老宋体"/>
                <a:cs typeface="JetBrains Mono"/>
              </a:rPr>
              <a:t>04 / 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914400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B8782"/>
                </a:solidFill>
                <a:latin typeface="JetBrains Mono"/>
                <a:ea typeface="京華老宋体"/>
                <a:cs typeface="JetBrains Mono"/>
              </a:rPr>
              <a:t>03 · SECTION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1225296"/>
            <a:ext cx="5212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>
                <a:solidFill>
                  <a:srgbClr val="232222"/>
                </a:solidFill>
                <a:latin typeface="KingHwa_OldSong"/>
                <a:ea typeface="京華老宋体"/>
                <a:cs typeface="KingHwa_OldSong"/>
              </a:rPr>
              <a:t>现在能生成什么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24128" y="1801368"/>
            <a:ext cx="3840480" cy="0"/>
          </a:xfrm>
          <a:prstGeom prst="line">
            <a:avLst/>
          </a:prstGeom>
          <a:ln w="9525">
            <a:solidFill>
              <a:srgbClr val="2438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784848" y="1207008"/>
            <a:ext cx="4389120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>
                <a:solidFill>
                  <a:srgbClr val="666361"/>
                </a:solidFill>
                <a:latin typeface="Source Han Sans SC"/>
                <a:ea typeface="京華老宋体"/>
                <a:cs typeface="Source Han Sans SC"/>
              </a:rPr>
              <a:t>中文 v1 的正式能力聚焦三类高频文档，简历和作品集已保留为补充样例。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36047" y="6126480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>
                <a:solidFill>
                  <a:srgbClr val="8B8782"/>
                </a:solidFill>
                <a:latin typeface="JetBrains Mono"/>
                <a:ea typeface="京華老宋体"/>
                <a:cs typeface="JetBrains Mono"/>
              </a:rPr>
              <a:t>04 / 08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69848" y="2240279"/>
            <a:ext cx="3072384" cy="1115568"/>
          </a:xfrm>
          <a:prstGeom prst="rect">
            <a:avLst/>
          </a:prstGeom>
          <a:solidFill>
            <a:srgbClr val="F3EFEB"/>
          </a:solidFill>
          <a:ln w="8890">
            <a:solidFill>
              <a:srgbClr val="D0C7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9848" y="2240279"/>
            <a:ext cx="3072384" cy="310896"/>
          </a:xfrm>
          <a:prstGeom prst="rect">
            <a:avLst/>
          </a:prstGeom>
          <a:solidFill>
            <a:srgbClr val="243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34440" y="2331719"/>
            <a:ext cx="2743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0">
                <a:solidFill>
                  <a:srgbClr val="D5DEE7"/>
                </a:solidFill>
                <a:latin typeface="JetBrains Mono"/>
                <a:ea typeface="京華老宋体"/>
                <a:cs typeface="JetBrains Mono"/>
              </a:rPr>
              <a:t>1 PAGE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52728" y="2679191"/>
            <a:ext cx="270662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232222"/>
                </a:solidFill>
                <a:latin typeface="KingHwa_OldSong"/>
                <a:ea typeface="京華老宋体"/>
                <a:cs typeface="KingHwa_OldSong"/>
              </a:rPr>
              <a:t>One-Pager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52728" y="3118103"/>
            <a:ext cx="270662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A4947"/>
                </a:solidFill>
                <a:latin typeface="Source Han Sans SC"/>
                <a:ea typeface="京華老宋体"/>
                <a:cs typeface="Source Han Sans SC"/>
              </a:rPr>
              <a:t>公司介绍、项目方案、执行摘要。重点是 30 秒抓住核心。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44568" y="2240279"/>
            <a:ext cx="3072384" cy="1115568"/>
          </a:xfrm>
          <a:prstGeom prst="rect">
            <a:avLst/>
          </a:prstGeom>
          <a:solidFill>
            <a:srgbClr val="F3EFEB"/>
          </a:solidFill>
          <a:ln w="8890">
            <a:solidFill>
              <a:srgbClr val="D0C7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44568" y="2240279"/>
            <a:ext cx="3072384" cy="310896"/>
          </a:xfrm>
          <a:prstGeom prst="rect">
            <a:avLst/>
          </a:prstGeom>
          <a:solidFill>
            <a:srgbClr val="243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09160" y="2331719"/>
            <a:ext cx="2743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0">
                <a:solidFill>
                  <a:srgbClr val="D5DEE7"/>
                </a:solidFill>
                <a:latin typeface="JetBrains Mono"/>
                <a:ea typeface="京華老宋体"/>
                <a:cs typeface="JetBrains Mono"/>
              </a:rPr>
              <a:t>MULTI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27448" y="2679191"/>
            <a:ext cx="270662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232222"/>
                </a:solidFill>
                <a:latin typeface="KingHwa_OldSong"/>
                <a:ea typeface="京華老宋体"/>
                <a:cs typeface="KingHwa_OldSong"/>
              </a:rPr>
              <a:t>Long Doc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27448" y="3118103"/>
            <a:ext cx="270662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A4947"/>
                </a:solidFill>
                <a:latin typeface="Source Han Sans SC"/>
                <a:ea typeface="京華老宋体"/>
                <a:cs typeface="Source Han Sans SC"/>
              </a:rPr>
              <a:t>白皮书、长文报告、年度总结。强调章节结构与证据链。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19288" y="2240279"/>
            <a:ext cx="3072384" cy="1115568"/>
          </a:xfrm>
          <a:prstGeom prst="rect">
            <a:avLst/>
          </a:prstGeom>
          <a:solidFill>
            <a:srgbClr val="F3EFEB"/>
          </a:solidFill>
          <a:ln w="8890">
            <a:solidFill>
              <a:srgbClr val="D0C7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19288" y="2240279"/>
            <a:ext cx="3072384" cy="310896"/>
          </a:xfrm>
          <a:prstGeom prst="rect">
            <a:avLst/>
          </a:prstGeom>
          <a:solidFill>
            <a:srgbClr val="243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83880" y="2331719"/>
            <a:ext cx="2743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0">
                <a:solidFill>
                  <a:srgbClr val="D5DEE7"/>
                </a:solidFill>
                <a:latin typeface="JetBrains Mono"/>
                <a:ea typeface="京華老宋体"/>
                <a:cs typeface="JetBrains Mono"/>
              </a:rPr>
              <a:t>1 PAGE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02168" y="2679191"/>
            <a:ext cx="270662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232222"/>
                </a:solidFill>
                <a:latin typeface="KingHwa_OldSong"/>
                <a:ea typeface="京華老宋体"/>
                <a:cs typeface="KingHwa_OldSong"/>
              </a:rPr>
              <a:t>Letter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02168" y="3118103"/>
            <a:ext cx="270662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A4947"/>
                </a:solidFill>
                <a:latin typeface="Source Han Sans SC"/>
                <a:ea typeface="京華老宋体"/>
                <a:cs typeface="Source Han Sans SC"/>
              </a:rPr>
              <a:t>正式信件、推荐信、推荐函。关系、证据、匹配、推荐。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69848" y="3721607"/>
            <a:ext cx="3072384" cy="1115568"/>
          </a:xfrm>
          <a:prstGeom prst="rect">
            <a:avLst/>
          </a:prstGeom>
          <a:solidFill>
            <a:srgbClr val="F3EFEB"/>
          </a:solidFill>
          <a:ln w="8890">
            <a:solidFill>
              <a:srgbClr val="D0C7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69848" y="3721607"/>
            <a:ext cx="3072384" cy="310896"/>
          </a:xfrm>
          <a:prstGeom prst="rect">
            <a:avLst/>
          </a:prstGeom>
          <a:solidFill>
            <a:srgbClr val="243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34440" y="3813047"/>
            <a:ext cx="2743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0">
                <a:solidFill>
                  <a:srgbClr val="D5DEE7"/>
                </a:solidFill>
                <a:latin typeface="JetBrains Mono"/>
                <a:ea typeface="京華老宋体"/>
                <a:cs typeface="JetBrains Mono"/>
              </a:rPr>
              <a:t>DEMO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52728" y="4160519"/>
            <a:ext cx="270662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232222"/>
                </a:solidFill>
                <a:latin typeface="KingHwa_OldSong"/>
                <a:ea typeface="京華老宋体"/>
                <a:cs typeface="KingHwa_OldSong"/>
              </a:rPr>
              <a:t>Resume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52728" y="4599431"/>
            <a:ext cx="270662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A4947"/>
                </a:solidFill>
                <a:latin typeface="Source Han Sans SC"/>
                <a:ea typeface="京華老宋体"/>
                <a:cs typeface="Source Han Sans SC"/>
              </a:rPr>
              <a:t>固定坐标版简历样例，适合验证蓝框档案式布局。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44568" y="3721607"/>
            <a:ext cx="3072384" cy="1115568"/>
          </a:xfrm>
          <a:prstGeom prst="rect">
            <a:avLst/>
          </a:prstGeom>
          <a:solidFill>
            <a:srgbClr val="F3EFEB"/>
          </a:solidFill>
          <a:ln w="8890">
            <a:solidFill>
              <a:srgbClr val="D0C7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544568" y="3721607"/>
            <a:ext cx="3072384" cy="310896"/>
          </a:xfrm>
          <a:prstGeom prst="rect">
            <a:avLst/>
          </a:prstGeom>
          <a:solidFill>
            <a:srgbClr val="243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709160" y="3813047"/>
            <a:ext cx="2743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0">
                <a:solidFill>
                  <a:srgbClr val="D5DEE7"/>
                </a:solidFill>
                <a:latin typeface="JetBrains Mono"/>
                <a:ea typeface="京華老宋体"/>
                <a:cs typeface="JetBrains Mono"/>
              </a:rPr>
              <a:t>DEMO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27448" y="4160519"/>
            <a:ext cx="270662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232222"/>
                </a:solidFill>
                <a:latin typeface="KingHwa_OldSong"/>
                <a:ea typeface="京華老宋体"/>
                <a:cs typeface="KingHwa_OldSong"/>
              </a:rPr>
              <a:t>Portfolio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27448" y="4599431"/>
            <a:ext cx="270662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A4947"/>
                </a:solidFill>
                <a:latin typeface="Source Han Sans SC"/>
                <a:ea typeface="京華老宋体"/>
                <a:cs typeface="Source Han Sans SC"/>
              </a:rPr>
              <a:t>作品集样例，保留更多视觉叙事与项目卡片。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3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solidFill>
            <a:srgbClr val="F6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aper-over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384048"/>
            <a:ext cx="11423599" cy="6089904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548640"/>
            <a:ext cx="11094415" cy="5760720"/>
          </a:xfrm>
          <a:prstGeom prst="rect">
            <a:avLst/>
          </a:prstGeom>
          <a:noFill/>
          <a:ln w="12700">
            <a:solidFill>
              <a:srgbClr val="2438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9224" y="649224"/>
            <a:ext cx="10893247" cy="5559552"/>
          </a:xfrm>
          <a:prstGeom prst="rect">
            <a:avLst/>
          </a:prstGeom>
          <a:noFill/>
          <a:ln w="5715">
            <a:solidFill>
              <a:srgbClr val="4D5B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126480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8B8782"/>
                </a:solidFill>
                <a:latin typeface="JetBrains Mono"/>
                <a:ea typeface="京華老宋体"/>
                <a:cs typeface="JetBrains Mono"/>
              </a:rPr>
              <a:t>NATURAL PROMPTS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36047" y="6126480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>
                <a:solidFill>
                  <a:srgbClr val="8B8782"/>
                </a:solidFill>
                <a:latin typeface="JetBrains Mono"/>
                <a:ea typeface="京華老宋体"/>
                <a:cs typeface="JetBrains Mono"/>
              </a:rPr>
              <a:t>05 / 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914400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B8782"/>
                </a:solidFill>
                <a:latin typeface="JetBrains Mono"/>
                <a:ea typeface="京華老宋体"/>
                <a:cs typeface="JetBrains Mono"/>
              </a:rPr>
              <a:t>04 · SECTION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1225296"/>
            <a:ext cx="5212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>
                <a:solidFill>
                  <a:srgbClr val="232222"/>
                </a:solidFill>
                <a:latin typeface="KingHwa_OldSong"/>
                <a:ea typeface="京華老宋体"/>
                <a:cs typeface="KingHwa_OldSong"/>
              </a:rPr>
              <a:t>不用 slash command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24128" y="1801368"/>
            <a:ext cx="3840480" cy="0"/>
          </a:xfrm>
          <a:prstGeom prst="line">
            <a:avLst/>
          </a:prstGeom>
          <a:ln w="9525">
            <a:solidFill>
              <a:srgbClr val="2438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784848" y="1207008"/>
            <a:ext cx="4389120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>
                <a:solidFill>
                  <a:srgbClr val="666361"/>
                </a:solidFill>
                <a:latin typeface="Source Han Sans SC"/>
                <a:ea typeface="京華老宋体"/>
                <a:cs typeface="Source Han Sans SC"/>
              </a:rPr>
              <a:t>用户只要说任务，skill 根据意图选择模板。输出是文档，不是聊天里的格式建议。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36047" y="6126480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>
                <a:solidFill>
                  <a:srgbClr val="8B8782"/>
                </a:solidFill>
                <a:latin typeface="JetBrains Mono"/>
                <a:ea typeface="京華老宋体"/>
                <a:cs typeface="JetBrains Mono"/>
              </a:rPr>
              <a:t>05 / 08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98448" y="2212848"/>
            <a:ext cx="7955279" cy="438912"/>
          </a:xfrm>
          <a:prstGeom prst="rect">
            <a:avLst/>
          </a:prstGeom>
          <a:solidFill>
            <a:srgbClr val="F3EFEB"/>
          </a:solidFill>
          <a:ln w="5715">
            <a:solidFill>
              <a:srgbClr val="D0C7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527048" y="2340864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232222"/>
                </a:solidFill>
                <a:latin typeface="KingHwa_OldSong"/>
                <a:ea typeface="京華老宋体"/>
                <a:cs typeface="KingHwa_OldSong"/>
              </a:rPr>
              <a:t>“帮我生成一份白皮书”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19288" y="2350008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243851"/>
                </a:solidFill>
                <a:latin typeface="JetBrains Mono"/>
                <a:ea typeface="京華老宋体"/>
                <a:cs typeface="JetBrains Mono"/>
              </a:rPr>
              <a:t>LONG-DOC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98448" y="2871216"/>
            <a:ext cx="7955279" cy="438912"/>
          </a:xfrm>
          <a:prstGeom prst="rect">
            <a:avLst/>
          </a:prstGeom>
          <a:solidFill>
            <a:srgbClr val="F3EFEB"/>
          </a:solidFill>
          <a:ln w="5715">
            <a:solidFill>
              <a:srgbClr val="D0C7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527048" y="2999232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232222"/>
                </a:solidFill>
                <a:latin typeface="KingHwa_OldSong"/>
                <a:ea typeface="京華老宋体"/>
                <a:cs typeface="KingHwa_OldSong"/>
              </a:rPr>
              <a:t>“生成一份项目方案”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19288" y="3008376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243851"/>
                </a:solidFill>
                <a:latin typeface="JetBrains Mono"/>
                <a:ea typeface="京華老宋体"/>
                <a:cs typeface="JetBrains Mono"/>
              </a:rPr>
              <a:t>ONE-PAGER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298448" y="3529584"/>
            <a:ext cx="7955279" cy="438912"/>
          </a:xfrm>
          <a:prstGeom prst="rect">
            <a:avLst/>
          </a:prstGeom>
          <a:solidFill>
            <a:srgbClr val="F3EFEB"/>
          </a:solidFill>
          <a:ln w="5715">
            <a:solidFill>
              <a:srgbClr val="D0C7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527048" y="3657600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232222"/>
                </a:solidFill>
                <a:latin typeface="KingHwa_OldSong"/>
                <a:ea typeface="京華老宋体"/>
                <a:cs typeface="KingHwa_OldSong"/>
              </a:rPr>
              <a:t>“帮我写一份推荐信”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19288" y="3666744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243851"/>
                </a:solidFill>
                <a:latin typeface="JetBrains Mono"/>
                <a:ea typeface="京華老宋体"/>
                <a:cs typeface="JetBrains Mono"/>
              </a:rPr>
              <a:t>LETTER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298448" y="4187952"/>
            <a:ext cx="7955279" cy="438912"/>
          </a:xfrm>
          <a:prstGeom prst="rect">
            <a:avLst/>
          </a:prstGeom>
          <a:solidFill>
            <a:srgbClr val="F3EFEB"/>
          </a:solidFill>
          <a:ln w="5715">
            <a:solidFill>
              <a:srgbClr val="D0C7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527048" y="4315968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232222"/>
                </a:solidFill>
                <a:latin typeface="KingHwa_OldSong"/>
                <a:ea typeface="京華老宋体"/>
                <a:cs typeface="KingHwa_OldSong"/>
              </a:rPr>
              <a:t>“帮我把这些内容排版成好看的 PDF”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19288" y="4325112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243851"/>
                </a:solidFill>
                <a:latin typeface="JetBrains Mono"/>
                <a:ea typeface="京華老宋体"/>
                <a:cs typeface="JetBrains Mono"/>
              </a:rPr>
              <a:t>INFER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298448" y="4846320"/>
            <a:ext cx="7955279" cy="438912"/>
          </a:xfrm>
          <a:prstGeom prst="rect">
            <a:avLst/>
          </a:prstGeom>
          <a:solidFill>
            <a:srgbClr val="F3EFEB"/>
          </a:solidFill>
          <a:ln w="5715">
            <a:solidFill>
              <a:srgbClr val="D0C7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527048" y="4974336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232222"/>
                </a:solidFill>
                <a:latin typeface="KingHwa_OldSong"/>
                <a:ea typeface="京華老宋体"/>
                <a:cs typeface="KingHwa_OldSong"/>
              </a:rPr>
              <a:t>“做一套汇报 slides”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19288" y="4983480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243851"/>
                </a:solidFill>
                <a:latin typeface="JetBrains Mono"/>
                <a:ea typeface="京華老宋体"/>
                <a:cs typeface="JetBrains Mono"/>
              </a:rPr>
              <a:t>SLIDES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37776" y="2212848"/>
            <a:ext cx="1280160" cy="3090672"/>
          </a:xfrm>
          <a:prstGeom prst="rect">
            <a:avLst/>
          </a:prstGeom>
          <a:solidFill>
            <a:srgbClr val="243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74936" y="3108960"/>
            <a:ext cx="10058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F3EFEB"/>
                </a:solidFill>
                <a:latin typeface="JetBrains Mono"/>
                <a:ea typeface="京華老宋体"/>
                <a:cs typeface="JetBrains Mono"/>
              </a:rPr>
              <a:t>AUTO
TRIGGER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3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solidFill>
            <a:srgbClr val="F6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aper-over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384048"/>
            <a:ext cx="11423599" cy="6089904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548640"/>
            <a:ext cx="11094415" cy="5760720"/>
          </a:xfrm>
          <a:prstGeom prst="rect">
            <a:avLst/>
          </a:prstGeom>
          <a:noFill/>
          <a:ln w="12700">
            <a:solidFill>
              <a:srgbClr val="2438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9224" y="649224"/>
            <a:ext cx="10893247" cy="5559552"/>
          </a:xfrm>
          <a:prstGeom prst="rect">
            <a:avLst/>
          </a:prstGeom>
          <a:noFill/>
          <a:ln w="5715">
            <a:solidFill>
              <a:srgbClr val="4D5B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126480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8B8782"/>
                </a:solidFill>
                <a:latin typeface="JetBrains Mono"/>
                <a:ea typeface="京華老宋体"/>
                <a:cs typeface="JetBrains Mono"/>
              </a:rPr>
              <a:t>LAYOUT RHYTHM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36047" y="6126480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>
                <a:solidFill>
                  <a:srgbClr val="8B8782"/>
                </a:solidFill>
                <a:latin typeface="JetBrains Mono"/>
                <a:ea typeface="京華老宋体"/>
                <a:cs typeface="JetBrains Mono"/>
              </a:rPr>
              <a:t>06 / 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914400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B8782"/>
                </a:solidFill>
                <a:latin typeface="JetBrains Mono"/>
                <a:ea typeface="京華老宋体"/>
                <a:cs typeface="JetBrains Mono"/>
              </a:rPr>
              <a:t>05 · SECTION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1225296"/>
            <a:ext cx="5212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>
                <a:solidFill>
                  <a:srgbClr val="232222"/>
                </a:solidFill>
                <a:latin typeface="KingHwa_OldSong"/>
                <a:ea typeface="京華老宋体"/>
                <a:cs typeface="KingHwa_OldSong"/>
              </a:rPr>
              <a:t>排版骨架不变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24128" y="1801368"/>
            <a:ext cx="3840480" cy="0"/>
          </a:xfrm>
          <a:prstGeom prst="line">
            <a:avLst/>
          </a:prstGeom>
          <a:ln w="9525">
            <a:solidFill>
              <a:srgbClr val="2438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784848" y="1207008"/>
            <a:ext cx="4389120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>
                <a:solidFill>
                  <a:srgbClr val="666361"/>
                </a:solidFill>
                <a:latin typeface="Source Han Sans SC"/>
                <a:ea typeface="京華老宋体"/>
                <a:cs typeface="Source Han Sans SC"/>
              </a:rPr>
              <a:t>我们换的是时代气质，不是阅读效率。信息密度、留白与页数约束仍然可控。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36047" y="6126480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>
                <a:solidFill>
                  <a:srgbClr val="8B8782"/>
                </a:solidFill>
                <a:latin typeface="JetBrains Mono"/>
                <a:ea typeface="京華老宋体"/>
                <a:cs typeface="JetBrains Mono"/>
              </a:rPr>
              <a:t>06 / 08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52728" y="2286000"/>
            <a:ext cx="2011680" cy="1078992"/>
          </a:xfrm>
          <a:prstGeom prst="rect">
            <a:avLst/>
          </a:prstGeom>
          <a:solidFill>
            <a:srgbClr val="F3EFEB"/>
          </a:solidFill>
          <a:ln w="10160">
            <a:solidFill>
              <a:srgbClr val="4D5B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17320" y="2432304"/>
            <a:ext cx="168249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0">
                <a:solidFill>
                  <a:srgbClr val="243851"/>
                </a:solidFill>
                <a:latin typeface="KingHwa_OldSong"/>
                <a:ea typeface="京華老宋体"/>
                <a:cs typeface="KingHwa_OldSong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2816352"/>
            <a:ext cx="168249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B8782"/>
                </a:solidFill>
                <a:latin typeface="Source Han Sans SC"/>
                <a:ea typeface="京華老宋体"/>
                <a:cs typeface="Source Han Sans SC"/>
              </a:rPr>
              <a:t>ONE-PAGER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3035808"/>
            <a:ext cx="168249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66361"/>
                </a:solidFill>
                <a:latin typeface="Source Han Sans SC"/>
                <a:ea typeface="京華老宋体"/>
                <a:cs typeface="Source Han Sans SC"/>
              </a:rPr>
              <a:t>严格单页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66160" y="2286000"/>
            <a:ext cx="2011680" cy="1078992"/>
          </a:xfrm>
          <a:prstGeom prst="rect">
            <a:avLst/>
          </a:prstGeom>
          <a:solidFill>
            <a:srgbClr val="F3EFEB"/>
          </a:solidFill>
          <a:ln w="10160">
            <a:solidFill>
              <a:srgbClr val="4D5B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30752" y="2432304"/>
            <a:ext cx="168249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0">
                <a:solidFill>
                  <a:srgbClr val="243851"/>
                </a:solidFill>
                <a:latin typeface="KingHwa_OldSong"/>
                <a:ea typeface="京華老宋体"/>
                <a:cs typeface="KingHwa_OldSong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30752" y="2816352"/>
            <a:ext cx="168249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B8782"/>
                </a:solidFill>
                <a:latin typeface="Source Han Sans SC"/>
                <a:ea typeface="京華老宋体"/>
                <a:cs typeface="Source Han Sans SC"/>
              </a:rPr>
              <a:t>LETTER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30752" y="3035808"/>
            <a:ext cx="168249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66361"/>
                </a:solidFill>
                <a:latin typeface="Source Han Sans SC"/>
                <a:ea typeface="京華老宋体"/>
                <a:cs typeface="Source Han Sans SC"/>
              </a:rPr>
              <a:t>严格单页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79592" y="2286000"/>
            <a:ext cx="2011680" cy="1078992"/>
          </a:xfrm>
          <a:prstGeom prst="rect">
            <a:avLst/>
          </a:prstGeom>
          <a:solidFill>
            <a:srgbClr val="F3EFEB"/>
          </a:solidFill>
          <a:ln w="10160">
            <a:solidFill>
              <a:srgbClr val="4D5B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44184" y="2432304"/>
            <a:ext cx="168249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0">
                <a:solidFill>
                  <a:srgbClr val="243851"/>
                </a:solidFill>
                <a:latin typeface="KingHwa_OldSong"/>
                <a:ea typeface="京華老宋体"/>
                <a:cs typeface="KingHwa_OldSong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44184" y="2816352"/>
            <a:ext cx="168249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B8782"/>
                </a:solidFill>
                <a:latin typeface="Source Han Sans SC"/>
                <a:ea typeface="京華老宋体"/>
                <a:cs typeface="Source Han Sans SC"/>
              </a:rPr>
              <a:t>DEMO LONG-DOC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44184" y="3035808"/>
            <a:ext cx="168249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66361"/>
                </a:solidFill>
                <a:latin typeface="Source Han Sans SC"/>
                <a:ea typeface="京華老宋体"/>
                <a:cs typeface="Source Han Sans SC"/>
              </a:rPr>
              <a:t>章节展开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93023" y="2286000"/>
            <a:ext cx="2011680" cy="1078992"/>
          </a:xfrm>
          <a:prstGeom prst="rect">
            <a:avLst/>
          </a:prstGeom>
          <a:solidFill>
            <a:srgbClr val="F3EFEB"/>
          </a:solidFill>
          <a:ln w="10160">
            <a:solidFill>
              <a:srgbClr val="4D5B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57615" y="2432304"/>
            <a:ext cx="168249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0">
                <a:solidFill>
                  <a:srgbClr val="243851"/>
                </a:solidFill>
                <a:latin typeface="KingHwa_OldSong"/>
                <a:ea typeface="京華老宋体"/>
                <a:cs typeface="KingHwa_OldSong"/>
              </a:rPr>
              <a:t>500+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57615" y="2816352"/>
            <a:ext cx="168249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B8782"/>
                </a:solidFill>
                <a:latin typeface="Source Han Sans SC"/>
                <a:ea typeface="京華老宋体"/>
                <a:cs typeface="Source Han Sans SC"/>
              </a:rPr>
              <a:t>CHECK RULES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57615" y="3035808"/>
            <a:ext cx="168249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66361"/>
                </a:solidFill>
                <a:latin typeface="Source Han Sans SC"/>
                <a:ea typeface="京華老宋体"/>
                <a:cs typeface="Source Han Sans SC"/>
              </a:rPr>
              <a:t>字体 / CSS / 占位符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89888" y="4270248"/>
            <a:ext cx="96926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700"/>
              </a:spcAft>
            </a:pPr>
            <a:r>
              <a:rPr sz="1500">
                <a:solidFill>
                  <a:srgbClr val="4A4947"/>
                </a:solidFill>
                <a:latin typeface="Source Han Sans SC"/>
                <a:ea typeface="京華老宋体"/>
                <a:cs typeface="Source Han Sans SC"/>
              </a:rPr>
              <a:t>旧纸底不是装饰图，而是稳定色块。</a:t>
            </a:r>
          </a:p>
          <a:p>
            <a:pPr>
              <a:lnSpc>
                <a:spcPct val="118000"/>
              </a:lnSpc>
              <a:spcAft>
                <a:spcPts val="700"/>
              </a:spcAft>
            </a:pPr>
            <a:r>
              <a:rPr sz="1500">
                <a:solidFill>
                  <a:srgbClr val="4A4947"/>
                </a:solidFill>
                <a:latin typeface="Source Han Sans SC"/>
                <a:ea typeface="京華老宋体"/>
                <a:cs typeface="Source Han Sans SC"/>
              </a:rPr>
              <a:t>题签和细线负责时代感，正文仍按专业文档阅读。</a:t>
            </a:r>
          </a:p>
          <a:p>
            <a:pPr>
              <a:lnSpc>
                <a:spcPct val="118000"/>
              </a:lnSpc>
              <a:spcAft>
                <a:spcPts val="700"/>
              </a:spcAft>
            </a:pPr>
            <a:r>
              <a:rPr sz="1500">
                <a:solidFill>
                  <a:srgbClr val="4A4947"/>
                </a:solidFill>
                <a:latin typeface="Source Han Sans SC"/>
                <a:ea typeface="京華老宋体"/>
                <a:cs typeface="Source Han Sans SC"/>
              </a:rPr>
              <a:t>京華老宋体用于 serif 气质，功能文字保持清晰。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3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solidFill>
            <a:srgbClr val="F6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aper-over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384048"/>
            <a:ext cx="11423599" cy="6089904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548640"/>
            <a:ext cx="11094415" cy="5760720"/>
          </a:xfrm>
          <a:prstGeom prst="rect">
            <a:avLst/>
          </a:prstGeom>
          <a:noFill/>
          <a:ln w="12700">
            <a:solidFill>
              <a:srgbClr val="2438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9224" y="649224"/>
            <a:ext cx="10893247" cy="5559552"/>
          </a:xfrm>
          <a:prstGeom prst="rect">
            <a:avLst/>
          </a:prstGeom>
          <a:noFill/>
          <a:ln w="5715">
            <a:solidFill>
              <a:srgbClr val="4D5B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126480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8B8782"/>
                </a:solidFill>
                <a:latin typeface="JetBrains Mono"/>
                <a:ea typeface="京華老宋体"/>
                <a:cs typeface="JetBrains Mono"/>
              </a:rPr>
              <a:t>DELIVERY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36047" y="6126480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>
                <a:solidFill>
                  <a:srgbClr val="8B8782"/>
                </a:solidFill>
                <a:latin typeface="JetBrains Mono"/>
                <a:ea typeface="京華老宋体"/>
                <a:cs typeface="JetBrains Mono"/>
              </a:rPr>
              <a:t>07 / 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914400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B8782"/>
                </a:solidFill>
                <a:latin typeface="JetBrains Mono"/>
                <a:ea typeface="京華老宋体"/>
                <a:cs typeface="JetBrains Mono"/>
              </a:rPr>
              <a:t>06 · SECTION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1225296"/>
            <a:ext cx="5212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>
                <a:solidFill>
                  <a:srgbClr val="232222"/>
                </a:solidFill>
                <a:latin typeface="KingHwa_OldSong"/>
                <a:ea typeface="京華老宋体"/>
                <a:cs typeface="KingHwa_OldSong"/>
              </a:rPr>
              <a:t>交付链路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24128" y="1801368"/>
            <a:ext cx="3840480" cy="0"/>
          </a:xfrm>
          <a:prstGeom prst="line">
            <a:avLst/>
          </a:prstGeom>
          <a:ln w="9525">
            <a:solidFill>
              <a:srgbClr val="2438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784848" y="1207008"/>
            <a:ext cx="4389120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>
                <a:solidFill>
                  <a:srgbClr val="666361"/>
                </a:solidFill>
                <a:latin typeface="Source Han Sans SC"/>
                <a:ea typeface="京華老宋体"/>
                <a:cs typeface="Source Han Sans SC"/>
              </a:rPr>
              <a:t>生成不止是写文件，还要让 PDF/PPTX 和预览资产都能被检查。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36047" y="6126480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>
                <a:solidFill>
                  <a:srgbClr val="8B8782"/>
                </a:solidFill>
                <a:latin typeface="JetBrains Mono"/>
                <a:ea typeface="京華老宋体"/>
                <a:cs typeface="JetBrains Mono"/>
              </a:rPr>
              <a:t>07 / 08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07008" y="2852928"/>
            <a:ext cx="2148840" cy="1170432"/>
          </a:xfrm>
          <a:prstGeom prst="rect">
            <a:avLst/>
          </a:prstGeom>
          <a:solidFill>
            <a:srgbClr val="F3EFEB"/>
          </a:solidFill>
          <a:ln w="8890">
            <a:solidFill>
              <a:srgbClr val="D0C7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07008" y="2852928"/>
            <a:ext cx="2148840" cy="310896"/>
          </a:xfrm>
          <a:prstGeom prst="rect">
            <a:avLst/>
          </a:prstGeom>
          <a:solidFill>
            <a:srgbClr val="243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71600" y="2944368"/>
            <a:ext cx="181965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0">
                <a:solidFill>
                  <a:srgbClr val="D5DEE7"/>
                </a:solidFill>
                <a:latin typeface="JetBrains Mono"/>
                <a:ea typeface="京華老宋体"/>
                <a:cs typeface="JetBrains Mono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9888" y="3291840"/>
            <a:ext cx="1783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232222"/>
                </a:solidFill>
                <a:latin typeface="KingHwa_OldSong"/>
                <a:ea typeface="京華老宋体"/>
                <a:cs typeface="KingHwa_OldSong"/>
              </a:rPr>
              <a:t>HTML / PPTX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89888" y="3730752"/>
            <a:ext cx="178308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A4947"/>
                </a:solidFill>
                <a:latin typeface="Source Han Sans SC"/>
                <a:ea typeface="京華老宋体"/>
                <a:cs typeface="Source Han Sans SC"/>
              </a:rPr>
              <a:t>内容进入固定模板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447288" y="3438144"/>
            <a:ext cx="292608" cy="0"/>
          </a:xfrm>
          <a:prstGeom prst="line">
            <a:avLst/>
          </a:prstGeom>
          <a:ln w="12700">
            <a:solidFill>
              <a:srgbClr val="4D5B6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3822192" y="2852928"/>
            <a:ext cx="2148840" cy="1170432"/>
          </a:xfrm>
          <a:prstGeom prst="rect">
            <a:avLst/>
          </a:prstGeom>
          <a:solidFill>
            <a:srgbClr val="F3EFEB"/>
          </a:solidFill>
          <a:ln w="8890">
            <a:solidFill>
              <a:srgbClr val="D0C7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822192" y="2852928"/>
            <a:ext cx="2148840" cy="310896"/>
          </a:xfrm>
          <a:prstGeom prst="rect">
            <a:avLst/>
          </a:prstGeom>
          <a:solidFill>
            <a:srgbClr val="243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986784" y="2944368"/>
            <a:ext cx="181965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0">
                <a:solidFill>
                  <a:srgbClr val="D5DEE7"/>
                </a:solidFill>
                <a:latin typeface="JetBrains Mono"/>
                <a:ea typeface="京華老宋体"/>
                <a:cs typeface="JetBrains Mono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05072" y="3291840"/>
            <a:ext cx="1783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232222"/>
                </a:solidFill>
                <a:latin typeface="KingHwa_OldSong"/>
                <a:ea typeface="京華老宋体"/>
                <a:cs typeface="KingHwa_OldSong"/>
              </a:rPr>
              <a:t>Build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05072" y="3730752"/>
            <a:ext cx="178308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A4947"/>
                </a:solidFill>
                <a:latin typeface="Source Han Sans SC"/>
                <a:ea typeface="京華老宋体"/>
                <a:cs typeface="Source Han Sans SC"/>
              </a:rPr>
              <a:t>生成交付文件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062472" y="3438144"/>
            <a:ext cx="292608" cy="0"/>
          </a:xfrm>
          <a:prstGeom prst="line">
            <a:avLst/>
          </a:prstGeom>
          <a:ln w="12700">
            <a:solidFill>
              <a:srgbClr val="4D5B6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6437376" y="2852928"/>
            <a:ext cx="2148840" cy="1170432"/>
          </a:xfrm>
          <a:prstGeom prst="rect">
            <a:avLst/>
          </a:prstGeom>
          <a:solidFill>
            <a:srgbClr val="F3EFEB"/>
          </a:solidFill>
          <a:ln w="8890">
            <a:solidFill>
              <a:srgbClr val="D0C7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37376" y="2852928"/>
            <a:ext cx="2148840" cy="310896"/>
          </a:xfrm>
          <a:prstGeom prst="rect">
            <a:avLst/>
          </a:prstGeom>
          <a:solidFill>
            <a:srgbClr val="243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1968" y="2944368"/>
            <a:ext cx="181965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0">
                <a:solidFill>
                  <a:srgbClr val="D5DEE7"/>
                </a:solidFill>
                <a:latin typeface="JetBrains Mono"/>
                <a:ea typeface="京華老宋体"/>
                <a:cs typeface="JetBrains Mono"/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0256" y="3291840"/>
            <a:ext cx="1783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232222"/>
                </a:solidFill>
                <a:latin typeface="KingHwa_OldSong"/>
                <a:ea typeface="京華老宋体"/>
                <a:cs typeface="KingHwa_OldSong"/>
              </a:rPr>
              <a:t>Verify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0256" y="3730752"/>
            <a:ext cx="178308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A4947"/>
                </a:solidFill>
                <a:latin typeface="Source Han Sans SC"/>
                <a:ea typeface="京華老宋体"/>
                <a:cs typeface="Source Han Sans SC"/>
              </a:rPr>
              <a:t>检查页数、字体、占位符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677656" y="3438144"/>
            <a:ext cx="292608" cy="0"/>
          </a:xfrm>
          <a:prstGeom prst="line">
            <a:avLst/>
          </a:prstGeom>
          <a:ln w="12700">
            <a:solidFill>
              <a:srgbClr val="4D5B6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9052560" y="2852928"/>
            <a:ext cx="2148840" cy="1170432"/>
          </a:xfrm>
          <a:prstGeom prst="rect">
            <a:avLst/>
          </a:prstGeom>
          <a:solidFill>
            <a:srgbClr val="F3EFEB"/>
          </a:solidFill>
          <a:ln w="8890">
            <a:solidFill>
              <a:srgbClr val="D0C7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052560" y="2852928"/>
            <a:ext cx="2148840" cy="310896"/>
          </a:xfrm>
          <a:prstGeom prst="rect">
            <a:avLst/>
          </a:prstGeom>
          <a:solidFill>
            <a:srgbClr val="243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17152" y="2944368"/>
            <a:ext cx="181965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0">
                <a:solidFill>
                  <a:srgbClr val="D5DEE7"/>
                </a:solidFill>
                <a:latin typeface="JetBrains Mono"/>
                <a:ea typeface="京華老宋体"/>
                <a:cs typeface="JetBrains Mono"/>
              </a:rPr>
              <a:t>04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5440" y="3291840"/>
            <a:ext cx="1783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232222"/>
                </a:solidFill>
                <a:latin typeface="KingHwa_OldSong"/>
                <a:ea typeface="京華老宋体"/>
                <a:cs typeface="KingHwa_OldSong"/>
              </a:rPr>
              <a:t>Preview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5440" y="3730752"/>
            <a:ext cx="178308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A4947"/>
                </a:solidFill>
                <a:latin typeface="Source Han Sans SC"/>
                <a:ea typeface="京華老宋体"/>
                <a:cs typeface="Source Han Sans SC"/>
              </a:rPr>
              <a:t>导出 demo 预览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72768" y="5138928"/>
            <a:ext cx="89611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243851"/>
                </a:solidFill>
                <a:latin typeface="JetBrains Mono"/>
                <a:ea typeface="京華老宋体"/>
                <a:cs typeface="JetBrains Mono"/>
              </a:rPr>
              <a:t>.venv/bin/python scripts/build.py --verify one-pager
.venv/bin/python scripts/build.py --check
.venv/bin/python scripts/build.py slides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3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solidFill>
            <a:srgbClr val="F6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aper-over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384048"/>
            <a:ext cx="11423599" cy="6089904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548640"/>
            <a:ext cx="11094415" cy="5760720"/>
          </a:xfrm>
          <a:prstGeom prst="rect">
            <a:avLst/>
          </a:prstGeom>
          <a:noFill/>
          <a:ln w="12700">
            <a:solidFill>
              <a:srgbClr val="2438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9224" y="649224"/>
            <a:ext cx="10893247" cy="5559552"/>
          </a:xfrm>
          <a:prstGeom prst="rect">
            <a:avLst/>
          </a:prstGeom>
          <a:noFill/>
          <a:ln w="5715">
            <a:solidFill>
              <a:srgbClr val="4D5B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126480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8B8782"/>
                </a:solidFill>
                <a:latin typeface="JetBrains Mono"/>
                <a:ea typeface="京華老宋体"/>
                <a:cs typeface="JetBrains Mono"/>
              </a:rPr>
              <a:t>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36047" y="6126480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>
                <a:solidFill>
                  <a:srgbClr val="8B8782"/>
                </a:solidFill>
                <a:latin typeface="JetBrains Mono"/>
                <a:ea typeface="京華老宋体"/>
                <a:cs typeface="JetBrains Mono"/>
              </a:rPr>
              <a:t>08 / 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8448" y="2578608"/>
            <a:ext cx="9875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900" b="0">
                <a:solidFill>
                  <a:srgbClr val="243851"/>
                </a:solidFill>
                <a:latin typeface="KingHwa_OldSong"/>
                <a:ea typeface="京華老宋体"/>
                <a:cs typeface="KingHwa_OldSong"/>
              </a:rPr>
              <a:t>好看的本质是稳定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504688" y="3584448"/>
            <a:ext cx="1097280" cy="0"/>
          </a:xfrm>
          <a:prstGeom prst="line">
            <a:avLst/>
          </a:prstGeom>
          <a:ln w="16510">
            <a:solidFill>
              <a:srgbClr val="2438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298448" y="39959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666361"/>
                </a:solidFill>
                <a:latin typeface="Source Han Sans SC"/>
                <a:ea typeface="京華老宋体"/>
                <a:cs typeface="Source Han Sans SC"/>
              </a:rPr>
              <a:t>固定版式 · design token · 字体层级 · 构建校验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5367528"/>
            <a:ext cx="9875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8B8782"/>
                </a:solidFill>
                <a:latin typeface="JetBrains Mono"/>
                <a:ea typeface="京華老宋体"/>
                <a:cs typeface="JetBrains Mono"/>
              </a:rPr>
              <a:t>KAMI · REPUBLICAN MANUSCRIPT EDITION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京華老宋体"/>
        <a:cs typeface=""/>
        <a:font script="Jpan" typeface="ＭＳ Ｐゴシック"/>
        <a:font script="Hang" typeface="맑은 고딕"/>
        <a:font script="Hans" typeface="京華老宋体"/>
        <a:font script="Hant" typeface="京華老宋体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京華老宋体"/>
        <a:cs typeface=""/>
        <a:font script="Jpan" typeface="ＭＳ Ｐゴシック"/>
        <a:font script="Hang" typeface="맑은 고딕"/>
        <a:font script="Hans" typeface="京華老宋体"/>
        <a:font script="Hant" typeface="京華老宋体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