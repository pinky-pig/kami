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66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120000">
            <a:off x="-457200" y="868680"/>
            <a:ext cx="2103120" cy="1051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720000">
            <a:off x="10088575" y="5074920"/>
            <a:ext cx="1600200" cy="91440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NEO BRUTALISM | LOUD 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2286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01 / 05</a:t>
            </a:r>
          </a:p>
        </p:txBody>
      </p:sp>
      <p:sp>
        <p:nvSpPr>
          <p:cNvPr id="25" name="Rectangle 24"/>
          <p:cNvSpPr/>
          <p:nvPr/>
        </p:nvSpPr>
        <p:spPr>
          <a:xfrm rot="21528000">
            <a:off x="612648" y="1069848"/>
            <a:ext cx="6949440" cy="35661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528000">
            <a:off x="502920" y="960120"/>
            <a:ext cx="6949440" cy="3566160"/>
          </a:xfrm>
          <a:prstGeom prst="rect">
            <a:avLst/>
          </a:prstGeom>
          <a:solidFill>
            <a:srgbClr val="FF6B6B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" y="1371600"/>
            <a:ext cx="150876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1261872"/>
            <a:ext cx="1508760" cy="310896"/>
          </a:xfrm>
          <a:prstGeom prst="rect">
            <a:avLst/>
          </a:prstGeom>
          <a:solidFill>
            <a:srgbClr val="FFD93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1344168"/>
            <a:ext cx="1362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KAMI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1755648"/>
            <a:ext cx="62179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43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把 AI 文档
排成粗野海报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566160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RAW STRUCTURE / HARD SHADOW / HIGH SATURATION / NO SOFTNESS</a:t>
            </a:r>
          </a:p>
        </p:txBody>
      </p:sp>
      <p:sp>
        <p:nvSpPr>
          <p:cNvPr id="32" name="Rectangle 31"/>
          <p:cNvSpPr/>
          <p:nvPr/>
        </p:nvSpPr>
        <p:spPr>
          <a:xfrm rot="120000">
            <a:off x="8293607" y="1344168"/>
            <a:ext cx="2743200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20000">
            <a:off x="8183879" y="1234440"/>
            <a:ext cx="2743200" cy="1143000"/>
          </a:xfrm>
          <a:prstGeom prst="rect">
            <a:avLst/>
          </a:prstGeom>
          <a:solidFill>
            <a:srgbClr val="FFD93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153619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20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NO OLD
FRAME</a:t>
            </a:r>
          </a:p>
        </p:txBody>
      </p:sp>
      <p:sp>
        <p:nvSpPr>
          <p:cNvPr id="35" name="Rectangle 34"/>
          <p:cNvSpPr/>
          <p:nvPr/>
        </p:nvSpPr>
        <p:spPr>
          <a:xfrm rot="21420000">
            <a:off x="8110728" y="3172968"/>
            <a:ext cx="2971800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1420000">
            <a:off x="8001000" y="3063240"/>
            <a:ext cx="2971800" cy="1234440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36499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" b="1">
                <a:solidFill>
                  <a:srgbClr val="FFFFFF"/>
                </a:solidFill>
                <a:latin typeface="Inter"/>
                <a:ea typeface="Source Han Sans SC"/>
                <a:cs typeface="Inter"/>
              </a:rPr>
              <a:t>STICKER
COLLAGE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66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120000">
            <a:off x="-457200" y="868680"/>
            <a:ext cx="2103120" cy="1051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720000">
            <a:off x="10088575" y="5074920"/>
            <a:ext cx="1600200" cy="91440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NEO BRUTALISM |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2286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02 /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960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颜色必须大声</a:t>
            </a:r>
          </a:p>
        </p:txBody>
      </p:sp>
      <p:sp>
        <p:nvSpPr>
          <p:cNvPr id="26" name="Rectangle 25"/>
          <p:cNvSpPr/>
          <p:nvPr/>
        </p:nvSpPr>
        <p:spPr>
          <a:xfrm rot="21480000">
            <a:off x="612648" y="2029968"/>
            <a:ext cx="22128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1480000">
            <a:off x="502920" y="1920240"/>
            <a:ext cx="2212848" cy="1874519"/>
          </a:xfrm>
          <a:prstGeom prst="rect">
            <a:avLst/>
          </a:prstGeom>
          <a:solidFill>
            <a:srgbClr val="FF6B6B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615184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RED</a:t>
            </a:r>
          </a:p>
        </p:txBody>
      </p:sp>
      <p:sp>
        <p:nvSpPr>
          <p:cNvPr id="29" name="Rectangle 28"/>
          <p:cNvSpPr/>
          <p:nvPr/>
        </p:nvSpPr>
        <p:spPr>
          <a:xfrm rot="21540000">
            <a:off x="3310128" y="2029968"/>
            <a:ext cx="22128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540000">
            <a:off x="3200400" y="1920240"/>
            <a:ext cx="2212848" cy="1874519"/>
          </a:xfrm>
          <a:prstGeom prst="rect">
            <a:avLst/>
          </a:prstGeom>
          <a:solidFill>
            <a:srgbClr val="FFD93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2615184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YELLOW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7608" y="2029968"/>
            <a:ext cx="22128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1920240"/>
            <a:ext cx="2212848" cy="1874519"/>
          </a:xfrm>
          <a:prstGeom prst="rect">
            <a:avLst/>
          </a:prstGeom>
          <a:solidFill>
            <a:srgbClr val="C4B5F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615184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VIOLET</a:t>
            </a:r>
          </a:p>
        </p:txBody>
      </p:sp>
      <p:sp>
        <p:nvSpPr>
          <p:cNvPr id="35" name="Rectangle 34"/>
          <p:cNvSpPr/>
          <p:nvPr/>
        </p:nvSpPr>
        <p:spPr>
          <a:xfrm rot="60000">
            <a:off x="8705088" y="2029968"/>
            <a:ext cx="22128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60000">
            <a:off x="8595360" y="1920240"/>
            <a:ext cx="2212848" cy="1874519"/>
          </a:xfrm>
          <a:prstGeom prst="rect">
            <a:avLst/>
          </a:prstGeom>
          <a:solidFill>
            <a:srgbClr val="000000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2615184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Inter"/>
                <a:ea typeface="Source Han Sans SC"/>
                <a:cs typeface="Inter"/>
              </a:rPr>
              <a:t>BLACK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75488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没有柔和渐变，没有灰色过渡。每个色块都像贴在墙上的 DIY 海报。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66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120000">
            <a:off x="-457200" y="868680"/>
            <a:ext cx="2103120" cy="1051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720000">
            <a:off x="10088575" y="5074920"/>
            <a:ext cx="1600200" cy="91440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NEO BRUTALISM | 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2286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03 /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868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有组织的混乱</a:t>
            </a:r>
          </a:p>
        </p:txBody>
      </p:sp>
      <p:sp>
        <p:nvSpPr>
          <p:cNvPr id="26" name="Rectangle 25"/>
          <p:cNvSpPr/>
          <p:nvPr/>
        </p:nvSpPr>
        <p:spPr>
          <a:xfrm rot="60000">
            <a:off x="612648" y="1755648"/>
            <a:ext cx="4754880" cy="29260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60000">
            <a:off x="502920" y="1645920"/>
            <a:ext cx="4754880" cy="292608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1488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2000"/>
              </a:lnSpc>
            </a:pPr>
            <a:r>
              <a:rPr sz="34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60/40
ASYMMETRY</a:t>
            </a:r>
          </a:p>
        </p:txBody>
      </p:sp>
      <p:sp>
        <p:nvSpPr>
          <p:cNvPr id="29" name="Rectangle 28"/>
          <p:cNvSpPr/>
          <p:nvPr/>
        </p:nvSpPr>
        <p:spPr>
          <a:xfrm rot="21480000">
            <a:off x="6601968" y="1527048"/>
            <a:ext cx="3749039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80000">
            <a:off x="6492240" y="1417320"/>
            <a:ext cx="3749039" cy="1143000"/>
          </a:xfrm>
          <a:prstGeom prst="rect">
            <a:avLst/>
          </a:prstGeom>
          <a:solidFill>
            <a:srgbClr val="FFD93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178308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ROTATED BADGES</a:t>
            </a:r>
          </a:p>
        </p:txBody>
      </p:sp>
      <p:sp>
        <p:nvSpPr>
          <p:cNvPr id="32" name="Rectangle 31"/>
          <p:cNvSpPr/>
          <p:nvPr/>
        </p:nvSpPr>
        <p:spPr>
          <a:xfrm rot="180000">
            <a:off x="7013448" y="3172968"/>
            <a:ext cx="3383280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80000">
            <a:off x="6903720" y="3063240"/>
            <a:ext cx="3383280" cy="1234440"/>
          </a:xfrm>
          <a:prstGeom prst="rect">
            <a:avLst/>
          </a:prstGeom>
          <a:solidFill>
            <a:srgbClr val="C4B5F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3649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22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HARD
SHADOWS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66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120000">
            <a:off x="-457200" y="868680"/>
            <a:ext cx="2103120" cy="1051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720000">
            <a:off x="10088575" y="5074920"/>
            <a:ext cx="1600200" cy="91440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NEO BRUTALISM | 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2286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04 /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96012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PDF 与 PPT 都要像 zine，不像表格</a:t>
            </a:r>
          </a:p>
        </p:txBody>
      </p:sp>
      <p:sp>
        <p:nvSpPr>
          <p:cNvPr id="26" name="Rectangle 25"/>
          <p:cNvSpPr/>
          <p:nvPr/>
        </p:nvSpPr>
        <p:spPr>
          <a:xfrm rot="21540000">
            <a:off x="612648" y="1984247"/>
            <a:ext cx="9692640" cy="7132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1540000">
            <a:off x="502920" y="1874519"/>
            <a:ext cx="9692640" cy="713232"/>
          </a:xfrm>
          <a:prstGeom prst="rect">
            <a:avLst/>
          </a:prstGeom>
          <a:solidFill>
            <a:srgbClr val="FF6B6B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075687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ONE-PAGER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084831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loud hero / marquee / rotated cards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" y="3099815"/>
            <a:ext cx="9692640" cy="7132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990087"/>
            <a:ext cx="9692640" cy="713232"/>
          </a:xfrm>
          <a:prstGeom prst="rect">
            <a:avLst/>
          </a:prstGeom>
          <a:solidFill>
            <a:srgbClr val="FFD93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191255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LONG-DOC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200399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poster cover / blocky toc / proof column</a:t>
            </a:r>
          </a:p>
        </p:txBody>
      </p:sp>
      <p:sp>
        <p:nvSpPr>
          <p:cNvPr id="34" name="Rectangle 33"/>
          <p:cNvSpPr/>
          <p:nvPr/>
        </p:nvSpPr>
        <p:spPr>
          <a:xfrm rot="60000">
            <a:off x="612648" y="4215384"/>
            <a:ext cx="9692640" cy="7132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60000">
            <a:off x="502920" y="4105656"/>
            <a:ext cx="9692640" cy="713232"/>
          </a:xfrm>
          <a:prstGeom prst="rect">
            <a:avLst/>
          </a:prstGeom>
          <a:solidFill>
            <a:srgbClr val="C4B5F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068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LETTER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31596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raw subject bar / massive title / evidence sticker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660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22860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6309360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120000">
            <a:off x="-457200" y="868680"/>
            <a:ext cx="2103120" cy="1051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720000">
            <a:off x="10088575" y="5074920"/>
            <a:ext cx="1600200" cy="91440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NEO BRUTALISM | 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2286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05 / 05</a:t>
            </a:r>
          </a:p>
        </p:txBody>
      </p:sp>
      <p:sp>
        <p:nvSpPr>
          <p:cNvPr id="25" name="Rectangle 24"/>
          <p:cNvSpPr/>
          <p:nvPr/>
        </p:nvSpPr>
        <p:spPr>
          <a:xfrm rot="21480000">
            <a:off x="612648" y="1298448"/>
            <a:ext cx="7498079" cy="2743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480000">
            <a:off x="502920" y="1188720"/>
            <a:ext cx="7498079" cy="2743200"/>
          </a:xfrm>
          <a:prstGeom prst="rect">
            <a:avLst/>
          </a:prstGeom>
          <a:solidFill>
            <a:srgbClr val="FFD93D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691640"/>
            <a:ext cx="6629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3800" b="1">
                <a:solidFill>
                  <a:srgbClr val="000000"/>
                </a:solidFill>
                <a:latin typeface="Inter"/>
                <a:ea typeface="Source Han Sans SC"/>
                <a:cs typeface="Inter"/>
              </a:rPr>
              <a:t>不是换色。
是换成反精致海报。</a:t>
            </a:r>
          </a:p>
        </p:txBody>
      </p:sp>
      <p:sp>
        <p:nvSpPr>
          <p:cNvPr id="28" name="Rectangle 27"/>
          <p:cNvSpPr/>
          <p:nvPr/>
        </p:nvSpPr>
        <p:spPr>
          <a:xfrm rot="480000">
            <a:off x="8567928" y="1527048"/>
            <a:ext cx="2331720" cy="2057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480000">
            <a:off x="8458200" y="1417320"/>
            <a:ext cx="2331720" cy="2057400"/>
          </a:xfrm>
          <a:prstGeom prst="rect">
            <a:avLst/>
          </a:prstGeom>
          <a:solidFill>
            <a:srgbClr val="FF6B6B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1874519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2200" b="1">
                <a:solidFill>
                  <a:srgbClr val="FFFFFF"/>
                </a:solidFill>
                <a:latin typeface="Inter"/>
                <a:ea typeface="Source Han Sans SC"/>
                <a:cs typeface="Inter"/>
              </a:rPr>
              <a:t>ANTI
BORING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Source Han Sans SC"/>
        <a:cs typeface=""/>
        <a:font script="Jpan" typeface="ＭＳ Ｐゴシック"/>
        <a:font script="Hang" typeface="맑은 고딕"/>
        <a:font script="Hans" typeface="Source Han Sans SC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Source Han Sans SC"/>
        <a:cs typeface=""/>
        <a:font script="Jpan" typeface="ＭＳ Ｐゴシック"/>
        <a:font script="Hang" typeface="맑은 고딕"/>
        <a:font script="Hans" typeface="Source Han Sans SC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